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9"/>
    <p:sldId id="269" r:id="rId20"/>
    <p:sldId id="270" r:id="rId21"/>
    <p:sldId id="271" r:id="rId22"/>
    <p:sldId id="272" r:id="rId23"/>
    <p:sldId id="273" r:id="rId24"/>
    <p:sldId id="274" r:id="rId25"/>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9.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02559"/>
          </a:xfrm>
          <a:prstGeom prst="rect">
            <a:avLst/>
          </a:prstGeom>
          <a:solidFill>
            <a:srgbClr val="44546A"/>
          </a:solidFill>
          <a:ln/>
        </p:spPr>
      </p:sp>
      <p:sp>
        <p:nvSpPr>
          <p:cNvPr id="3" name="Shape 1"/>
          <p:cNvSpPr/>
          <p:nvPr/>
        </p:nvSpPr>
        <p:spPr>
          <a:xfrm>
            <a:off x="0" y="302559"/>
            <a:ext cx="9144000" cy="144076"/>
          </a:xfrm>
          <a:prstGeom prst="rect">
            <a:avLst/>
          </a:prstGeom>
          <a:solidFill>
            <a:srgbClr val="ED7D31"/>
          </a:solidFill>
          <a:ln/>
        </p:spPr>
      </p:sp>
      <p:sp>
        <p:nvSpPr>
          <p:cNvPr id="4" name="Shape 2"/>
          <p:cNvSpPr/>
          <p:nvPr/>
        </p:nvSpPr>
        <p:spPr>
          <a:xfrm>
            <a:off x="0" y="403412"/>
            <a:ext cx="5400000" cy="57630"/>
          </a:xfrm>
          <a:prstGeom prst="rect">
            <a:avLst/>
          </a:prstGeom>
          <a:solidFill>
            <a:srgbClr val="F5BD97"/>
          </a:solidFill>
          <a:ln/>
        </p:spPr>
      </p:sp>
      <p:sp>
        <p:nvSpPr>
          <p:cNvPr id="5" name="Shape 3"/>
          <p:cNvSpPr/>
          <p:nvPr/>
        </p:nvSpPr>
        <p:spPr>
          <a:xfrm>
            <a:off x="5407200" y="446634"/>
            <a:ext cx="3736800" cy="172891"/>
          </a:xfrm>
          <a:prstGeom prst="rect">
            <a:avLst/>
          </a:prstGeom>
          <a:solidFill>
            <a:srgbClr val="F5BD97"/>
          </a:solidFill>
          <a:ln/>
        </p:spPr>
      </p:sp>
      <p:sp>
        <p:nvSpPr>
          <p:cNvPr id="6" name="Shape 4"/>
          <p:cNvSpPr/>
          <p:nvPr/>
        </p:nvSpPr>
        <p:spPr>
          <a:xfrm>
            <a:off x="8899200" y="0"/>
            <a:ext cx="21600" cy="619525"/>
          </a:xfrm>
          <a:prstGeom prst="rect">
            <a:avLst/>
          </a:prstGeom>
          <a:solidFill>
            <a:srgbClr val="C9D0DA"/>
          </a:solidFill>
          <a:ln/>
        </p:spPr>
      </p:sp>
      <p:sp>
        <p:nvSpPr>
          <p:cNvPr id="7" name="Shape 5"/>
          <p:cNvSpPr/>
          <p:nvPr/>
        </p:nvSpPr>
        <p:spPr>
          <a:xfrm>
            <a:off x="8971200" y="0"/>
            <a:ext cx="21600" cy="619525"/>
          </a:xfrm>
          <a:prstGeom prst="rect">
            <a:avLst/>
          </a:prstGeom>
          <a:solidFill>
            <a:srgbClr val="AEB8C6"/>
          </a:solidFill>
          <a:ln/>
        </p:spPr>
      </p:sp>
      <p:sp>
        <p:nvSpPr>
          <p:cNvPr id="8" name="Shape 6"/>
          <p:cNvSpPr/>
          <p:nvPr/>
        </p:nvSpPr>
        <p:spPr>
          <a:xfrm>
            <a:off x="9043200" y="0"/>
            <a:ext cx="21600" cy="619525"/>
          </a:xfrm>
          <a:prstGeom prst="rect">
            <a:avLst/>
          </a:prstGeom>
          <a:solidFill>
            <a:srgbClr val="C9D0DA"/>
          </a:solidFill>
          <a:ln/>
        </p:spPr>
      </p:sp>
      <p:sp>
        <p:nvSpPr>
          <p:cNvPr id="9" name="Text 7"/>
          <p:cNvSpPr/>
          <p:nvPr>
            <p:ph idx="107" type="title" hasCustomPrompt="1"/>
          </p:nvPr>
        </p:nvSpPr>
        <p:spPr>
          <a:xfrm>
            <a:off x="457200" y="713232"/>
            <a:ext cx="8229600" cy="777240"/>
          </a:xfrm>
          <a:prstGeom prst="rect">
            <a:avLst/>
          </a:prstGeom>
          <a:noFill/>
          <a:ln/>
        </p:spPr>
        <p:txBody>
          <a:bodyPr wrap="square" rtlCol="0"/>
          <a:lstStyle>
            <a:lvl1pPr algn="ctr" indent="0" marL="0">
              <a:buNone/>
              <a:defRPr lang="en-US" sz="4000" b="1" dirty="0">
                <a:solidFill>
                  <a:srgbClr val="000000"/>
                </a:solidFill>
                <a:latin typeface="Times New Roman" pitchFamily="34" charset="0"/>
                <a:ea typeface="Times New Roman" pitchFamily="34" charset="-122"/>
                <a:cs typeface="Times New Roman" pitchFamily="34" charset="-120"/>
              </a:defRPr>
            </a:lvl1pPr>
          </a:lstStyle>
          <a:p>
            <a:pPr algn="ctr"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RAM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02559"/>
          </a:xfrm>
          <a:prstGeom prst="rect">
            <a:avLst/>
          </a:prstGeom>
          <a:solidFill>
            <a:srgbClr val="44546A"/>
          </a:solidFill>
          <a:ln/>
        </p:spPr>
      </p:sp>
      <p:sp>
        <p:nvSpPr>
          <p:cNvPr id="3" name="Shape 1"/>
          <p:cNvSpPr/>
          <p:nvPr/>
        </p:nvSpPr>
        <p:spPr>
          <a:xfrm>
            <a:off x="0" y="302559"/>
            <a:ext cx="9144000" cy="144076"/>
          </a:xfrm>
          <a:prstGeom prst="rect">
            <a:avLst/>
          </a:prstGeom>
          <a:solidFill>
            <a:srgbClr val="ED7D31"/>
          </a:solidFill>
          <a:ln/>
        </p:spPr>
      </p:sp>
      <p:sp>
        <p:nvSpPr>
          <p:cNvPr id="4" name="Shape 2"/>
          <p:cNvSpPr/>
          <p:nvPr/>
        </p:nvSpPr>
        <p:spPr>
          <a:xfrm>
            <a:off x="0" y="403412"/>
            <a:ext cx="5400000" cy="57630"/>
          </a:xfrm>
          <a:prstGeom prst="rect">
            <a:avLst/>
          </a:prstGeom>
          <a:solidFill>
            <a:srgbClr val="F5BD97"/>
          </a:solidFill>
          <a:ln/>
        </p:spPr>
      </p:sp>
      <p:sp>
        <p:nvSpPr>
          <p:cNvPr id="5" name="Shape 3"/>
          <p:cNvSpPr/>
          <p:nvPr/>
        </p:nvSpPr>
        <p:spPr>
          <a:xfrm>
            <a:off x="5407200" y="446634"/>
            <a:ext cx="3736800" cy="172891"/>
          </a:xfrm>
          <a:prstGeom prst="rect">
            <a:avLst/>
          </a:prstGeom>
          <a:solidFill>
            <a:srgbClr val="F5BD97"/>
          </a:solidFill>
          <a:ln/>
        </p:spPr>
      </p:sp>
      <p:sp>
        <p:nvSpPr>
          <p:cNvPr id="6" name="Shape 4"/>
          <p:cNvSpPr/>
          <p:nvPr/>
        </p:nvSpPr>
        <p:spPr>
          <a:xfrm>
            <a:off x="8899200" y="0"/>
            <a:ext cx="21600" cy="619525"/>
          </a:xfrm>
          <a:prstGeom prst="rect">
            <a:avLst/>
          </a:prstGeom>
          <a:solidFill>
            <a:srgbClr val="C9D0DA"/>
          </a:solidFill>
          <a:ln/>
        </p:spPr>
      </p:sp>
      <p:sp>
        <p:nvSpPr>
          <p:cNvPr id="7" name="Shape 5"/>
          <p:cNvSpPr/>
          <p:nvPr/>
        </p:nvSpPr>
        <p:spPr>
          <a:xfrm>
            <a:off x="8971200" y="0"/>
            <a:ext cx="21600" cy="619525"/>
          </a:xfrm>
          <a:prstGeom prst="rect">
            <a:avLst/>
          </a:prstGeom>
          <a:solidFill>
            <a:srgbClr val="AEB8C6"/>
          </a:solidFill>
          <a:ln/>
        </p:spPr>
      </p:sp>
      <p:sp>
        <p:nvSpPr>
          <p:cNvPr id="8" name="Shape 6"/>
          <p:cNvSpPr/>
          <p:nvPr/>
        </p:nvSpPr>
        <p:spPr>
          <a:xfrm>
            <a:off x="9043200" y="0"/>
            <a:ext cx="21600" cy="619525"/>
          </a:xfrm>
          <a:prstGeom prst="rect">
            <a:avLst/>
          </a:prstGeom>
          <a:solidFill>
            <a:srgbClr val="C9D0D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LLEG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709947"/>
          </a:xfrm>
          <a:prstGeom prst="rect">
            <a:avLst/>
          </a:prstGeom>
          <a:solidFill>
            <a:srgbClr val="44546A"/>
          </a:solidFill>
          <a:ln/>
        </p:spPr>
      </p:sp>
      <p:sp>
        <p:nvSpPr>
          <p:cNvPr id="3" name="Shape 1"/>
          <p:cNvSpPr/>
          <p:nvPr/>
        </p:nvSpPr>
        <p:spPr>
          <a:xfrm>
            <a:off x="0" y="3709947"/>
            <a:ext cx="9144000" cy="180095"/>
          </a:xfrm>
          <a:prstGeom prst="rect">
            <a:avLst/>
          </a:prstGeom>
          <a:solidFill>
            <a:srgbClr val="ED7D31"/>
          </a:solidFill>
          <a:ln/>
        </p:spPr>
      </p:sp>
      <p:sp>
        <p:nvSpPr>
          <p:cNvPr id="4" name="Shape 2"/>
          <p:cNvSpPr/>
          <p:nvPr/>
        </p:nvSpPr>
        <p:spPr>
          <a:xfrm>
            <a:off x="0" y="3818004"/>
            <a:ext cx="5400000" cy="72038"/>
          </a:xfrm>
          <a:prstGeom prst="rect">
            <a:avLst/>
          </a:prstGeom>
          <a:solidFill>
            <a:srgbClr val="F5BD97"/>
          </a:solidFill>
          <a:ln/>
        </p:spPr>
      </p:sp>
      <p:sp>
        <p:nvSpPr>
          <p:cNvPr id="5" name="Shape 3"/>
          <p:cNvSpPr/>
          <p:nvPr/>
        </p:nvSpPr>
        <p:spPr>
          <a:xfrm>
            <a:off x="5407200" y="3890042"/>
            <a:ext cx="3736800" cy="216113"/>
          </a:xfrm>
          <a:prstGeom prst="rect">
            <a:avLst/>
          </a:prstGeom>
          <a:solidFill>
            <a:srgbClr val="F5BD97"/>
          </a:solidFill>
          <a:ln/>
        </p:spPr>
      </p:sp>
      <p:sp>
        <p:nvSpPr>
          <p:cNvPr id="6" name="Shape 4"/>
          <p:cNvSpPr/>
          <p:nvPr/>
        </p:nvSpPr>
        <p:spPr>
          <a:xfrm>
            <a:off x="5407200" y="4156582"/>
            <a:ext cx="1972800" cy="21611"/>
          </a:xfrm>
          <a:prstGeom prst="rect">
            <a:avLst/>
          </a:prstGeom>
          <a:solidFill>
            <a:srgbClr val="E5B9A0"/>
          </a:solidFill>
          <a:ln/>
        </p:spPr>
      </p:sp>
      <p:sp>
        <p:nvSpPr>
          <p:cNvPr id="7" name="Shape 5"/>
          <p:cNvSpPr/>
          <p:nvPr/>
        </p:nvSpPr>
        <p:spPr>
          <a:xfrm>
            <a:off x="5407200" y="4192601"/>
            <a:ext cx="1972800" cy="21611"/>
          </a:xfrm>
          <a:prstGeom prst="rect">
            <a:avLst/>
          </a:prstGeom>
          <a:solidFill>
            <a:srgbClr val="E5B9A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llege banner" descr="banner2.png">    </p:cNvPr>
          <p:cNvPicPr>
            <a:picLocks noChangeAspect="1"/>
          </p:cNvPicPr>
          <p:nvPr/>
        </p:nvPicPr>
        <p:blipFill>
          <a:blip r:embed="rId1"/>
          <a:stretch>
            <a:fillRect/>
          </a:stretch>
        </p:blipFill>
        <p:spPr>
          <a:xfrm>
            <a:off x="676800" y="590710"/>
            <a:ext cx="8013600" cy="1548813"/>
          </a:xfrm>
          <a:prstGeom prst="rect">
            <a:avLst/>
          </a:prstGeom>
        </p:spPr>
      </p:pic>
      <p:sp>
        <p:nvSpPr>
          <p:cNvPr id="3" name="Text 0"/>
          <p:cNvSpPr txBox="1"/>
          <p:nvPr/>
        </p:nvSpPr>
        <p:spPr>
          <a:xfrm>
            <a:off x="320040" y="4370832"/>
            <a:ext cx="2194560" cy="411480"/>
          </a:xfrm>
          <a:prstGeom prst="rect">
            <a:avLst/>
          </a:prstGeom>
          <a:noFill/>
          <a:ln/>
        </p:spPr>
        <p:txBody>
          <a:bodyPr wrap="square" lIns="0" tIns="0" rIns="0" bIns="0" rtlCol="0" anchor="t"/>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Student Name:</a:t>
            </a:r>
            <a:endParaRPr lang="en-US" sz="2600" dirty="0"/>
          </a:p>
        </p:txBody>
      </p:sp>
      <p:sp>
        <p:nvSpPr>
          <p:cNvPr id="4" name="Text 1"/>
          <p:cNvSpPr txBox="1"/>
          <p:nvPr/>
        </p:nvSpPr>
        <p:spPr>
          <a:xfrm>
            <a:off x="2697480" y="4370832"/>
            <a:ext cx="6217920" cy="868680"/>
          </a:xfrm>
          <a:prstGeom prst="rect">
            <a:avLst/>
          </a:prstGeom>
          <a:noFill/>
          <a:ln/>
        </p:spPr>
        <p:txBody>
          <a:bodyPr wrap="square" lIns="0" tIns="0" rIns="0" bIns="0" rtlCol="0" anchor="t"/>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STUDENT NAME 1 - REGISTER NO.</a:t>
            </a:r>
            <a:endParaRPr lang="en-US" sz="2600" dirty="0"/>
          </a:p>
          <a:p>
            <a:pPr indent="0" marL="0">
              <a:buNone/>
            </a:pPr>
            <a:r>
              <a:rPr lang="en-US" sz="2600" dirty="0">
                <a:solidFill>
                  <a:srgbClr val="000000"/>
                </a:solidFill>
                <a:latin typeface="Times New Roman" pitchFamily="34" charset="0"/>
                <a:ea typeface="Times New Roman" pitchFamily="34" charset="-122"/>
                <a:cs typeface="Times New Roman" pitchFamily="34" charset="-120"/>
              </a:rPr>
              <a:t>STUDENT NAME 2 - REGISTER NO.</a:t>
            </a:r>
            <a:endParaRPr lang="en-US" sz="2600" dirty="0"/>
          </a:p>
        </p:txBody>
      </p:sp>
      <p:sp>
        <p:nvSpPr>
          <p:cNvPr id="5" name="Text 2"/>
          <p:cNvSpPr txBox="1"/>
          <p:nvPr/>
        </p:nvSpPr>
        <p:spPr>
          <a:xfrm>
            <a:off x="320040" y="5440680"/>
            <a:ext cx="1097280" cy="457200"/>
          </a:xfrm>
          <a:prstGeom prst="rect">
            <a:avLst/>
          </a:prstGeom>
          <a:noFill/>
          <a:ln/>
        </p:spPr>
        <p:txBody>
          <a:bodyPr wrap="square" lIns="0" tIns="0" rIns="0" bIns="0" rtlCol="0" anchor="ctr"/>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Guide</a:t>
            </a:r>
            <a:endParaRPr lang="en-US" sz="2600" dirty="0"/>
          </a:p>
        </p:txBody>
      </p:sp>
      <p:sp>
        <p:nvSpPr>
          <p:cNvPr id="6" name="Text 3"/>
          <p:cNvSpPr txBox="1"/>
          <p:nvPr/>
        </p:nvSpPr>
        <p:spPr>
          <a:xfrm>
            <a:off x="2011680" y="5440680"/>
            <a:ext cx="274320" cy="457200"/>
          </a:xfrm>
          <a:prstGeom prst="rect">
            <a:avLst/>
          </a:prstGeom>
          <a:noFill/>
          <a:ln/>
        </p:spPr>
        <p:txBody>
          <a:bodyPr wrap="square" lIns="0" tIns="0" rIns="0" bIns="0" rtlCol="0" anchor="ctr"/>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a:t>
            </a:r>
            <a:endParaRPr lang="en-US" sz="2600" dirty="0"/>
          </a:p>
        </p:txBody>
      </p:sp>
      <p:sp>
        <p:nvSpPr>
          <p:cNvPr id="7" name="Text 4"/>
          <p:cNvSpPr txBox="1"/>
          <p:nvPr/>
        </p:nvSpPr>
        <p:spPr>
          <a:xfrm>
            <a:off x="2697480" y="5440680"/>
            <a:ext cx="6309360" cy="457200"/>
          </a:xfrm>
          <a:prstGeom prst="rect">
            <a:avLst/>
          </a:prstGeom>
          <a:noFill/>
          <a:ln/>
        </p:spPr>
        <p:txBody>
          <a:bodyPr wrap="square" lIns="0" tIns="0" rIns="0" bIns="0" rtlCol="0" anchor="ctr"/>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GUIDE NAME &amp; QUALIFICATIONS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Dark card"/>
          <p:cNvSpPr/>
          <p:nvPr/>
        </p:nvSpPr>
        <p:spPr>
          <a:xfrm>
            <a:off x="316800" y="1390330"/>
            <a:ext cx="8510400" cy="4783311"/>
          </a:xfrm>
          <a:prstGeom prst="rect">
            <a:avLst/>
          </a:prstGeom>
          <a:solidFill>
            <a:srgbClr val="1B1F24"/>
          </a:solidFill>
          <a:ln w="12700">
            <a:solidFill>
              <a:srgbClr val="1B1F24"/>
            </a:solidFill>
            <a:prstDash val="solid"/>
          </a:ln>
        </p:spPr>
        <p:txBody>
          <a:bodyPr/>
          <a:p/>
        </p:txBody>
      </p:sp>
      <p:sp>
        <p:nvSpPr>
          <p:cNvPr id="3" name="Text 1"/>
          <p:cNvSpPr txBox="1"/>
          <p:nvPr/>
        </p:nvSpPr>
        <p:spPr>
          <a:xfrm>
            <a:off x="900000" y="2845494"/>
            <a:ext cx="7560000" cy="1080567"/>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Georgia" pitchFamily="34" charset="0"/>
                <a:ea typeface="Georgia" pitchFamily="34" charset="-122"/>
                <a:cs typeface="Georgia" pitchFamily="34" charset="-120"/>
              </a:rPr>
              <a:t>NLP LOG PROCESSOR</a:t>
            </a:r>
            <a:endParaRPr lang="en-US" sz="3800" dirty="0"/>
          </a:p>
          <a:p>
            <a:pPr indent="0" marL="0">
              <a:lnSpc>
                <a:spcPct val="95000"/>
              </a:lnSpc>
              <a:buNone/>
            </a:pPr>
            <a:r>
              <a:rPr lang="en-US" sz="3800" b="1" dirty="0">
                <a:solidFill>
                  <a:srgbClr val="FF7A1F"/>
                </a:solidFill>
                <a:latin typeface="Georgia" pitchFamily="34" charset="0"/>
                <a:ea typeface="Georgia" pitchFamily="34" charset="-122"/>
                <a:cs typeface="Georgia" pitchFamily="34" charset="-120"/>
              </a:rPr>
              <a:t>&amp; BUG REPORTER</a:t>
            </a:r>
            <a:endParaRPr lang="en-US" sz="3800" dirty="0"/>
          </a:p>
        </p:txBody>
      </p:sp>
      <p:sp>
        <p:nvSpPr>
          <p:cNvPr id="4" name="Text 2"/>
          <p:cNvSpPr txBox="1"/>
          <p:nvPr/>
        </p:nvSpPr>
        <p:spPr>
          <a:xfrm>
            <a:off x="921600" y="4005303"/>
            <a:ext cx="6840000" cy="288151"/>
          </a:xfrm>
          <a:prstGeom prst="rect">
            <a:avLst/>
          </a:prstGeom>
          <a:noFill/>
          <a:ln/>
        </p:spPr>
        <p:txBody>
          <a:bodyPr wrap="square" lIns="0" tIns="0" rIns="0" bIns="0" rtlCol="0" anchor="ctr"/>
          <a:lstStyle/>
          <a:p>
            <a:pPr indent="0" marL="0">
              <a:buNone/>
            </a:pPr>
            <a:r>
              <a:rPr lang="en-US" sz="1400" i="1" dirty="0">
                <a:solidFill>
                  <a:srgbClr val="C9CED6"/>
                </a:solidFill>
                <a:latin typeface="Times New Roman" pitchFamily="34" charset="0"/>
                <a:ea typeface="Times New Roman" pitchFamily="34" charset="-122"/>
                <a:cs typeface="Times New Roman" pitchFamily="34" charset="-120"/>
              </a:rPr>
              <a:t>AI-Powered Log Analysis and Automated Bug Reporting using NLP</a:t>
            </a:r>
            <a:endParaRPr lang="en-US" sz="1400" dirty="0"/>
          </a:p>
        </p:txBody>
      </p:sp>
      <p:sp>
        <p:nvSpPr>
          <p:cNvPr id="5" name="Shape 3"/>
          <p:cNvSpPr/>
          <p:nvPr/>
        </p:nvSpPr>
        <p:spPr>
          <a:xfrm>
            <a:off x="921600" y="4415918"/>
            <a:ext cx="1533600" cy="0"/>
          </a:xfrm>
          <a:prstGeom prst="line">
            <a:avLst/>
          </a:prstGeom>
          <a:noFill/>
          <a:ln w="19050">
            <a:solidFill>
              <a:srgbClr val="F4C430"/>
            </a:solidFill>
            <a:prstDash val="solid"/>
          </a:ln>
        </p:spPr>
        <p:txBody>
          <a:bodyPr/>
          <a:p/>
        </p:txBody>
      </p:sp>
      <p:sp>
        <p:nvSpPr>
          <p:cNvPr id="6" name="Text 4"/>
          <p:cNvSpPr txBox="1"/>
          <p:nvPr/>
        </p:nvSpPr>
        <p:spPr>
          <a:xfrm>
            <a:off x="921600" y="4574401"/>
            <a:ext cx="5760000" cy="216113"/>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III B.Sc. COMPUTER SCIENCE   |   FINAL YEAR PROJECT</a:t>
            </a:r>
            <a:endParaRPr lang="en-US" sz="1200" dirty="0"/>
          </a:p>
        </p:txBody>
      </p:sp>
      <p:sp>
        <p:nvSpPr>
          <p:cNvPr id="7" name="Lane dash"/>
          <p:cNvSpPr/>
          <p:nvPr/>
        </p:nvSpPr>
        <p:spPr>
          <a:xfrm>
            <a:off x="756000" y="5388429"/>
            <a:ext cx="179542" cy="36019"/>
          </a:xfrm>
          <a:prstGeom prst="rect">
            <a:avLst/>
          </a:prstGeom>
          <a:solidFill>
            <a:srgbClr val="F4C430"/>
          </a:solidFill>
          <a:ln w="12700">
            <a:solidFill>
              <a:srgbClr val="F4C430"/>
            </a:solidFill>
            <a:prstDash val="solid"/>
          </a:ln>
        </p:spPr>
        <p:txBody>
          <a:bodyPr/>
          <a:p/>
        </p:txBody>
      </p:sp>
      <p:sp>
        <p:nvSpPr>
          <p:cNvPr id="8" name="Lane dash"/>
          <p:cNvSpPr/>
          <p:nvPr/>
        </p:nvSpPr>
        <p:spPr>
          <a:xfrm>
            <a:off x="1101273" y="5388429"/>
            <a:ext cx="179542" cy="36019"/>
          </a:xfrm>
          <a:prstGeom prst="rect">
            <a:avLst/>
          </a:prstGeom>
          <a:solidFill>
            <a:srgbClr val="F4C430"/>
          </a:solidFill>
          <a:ln w="12700">
            <a:solidFill>
              <a:srgbClr val="F4C430"/>
            </a:solidFill>
            <a:prstDash val="solid"/>
          </a:ln>
        </p:spPr>
        <p:txBody>
          <a:bodyPr/>
          <a:p/>
        </p:txBody>
      </p:sp>
      <p:sp>
        <p:nvSpPr>
          <p:cNvPr id="9" name="Lane dash"/>
          <p:cNvSpPr/>
          <p:nvPr/>
        </p:nvSpPr>
        <p:spPr>
          <a:xfrm>
            <a:off x="1446545" y="5388429"/>
            <a:ext cx="179542" cy="36019"/>
          </a:xfrm>
          <a:prstGeom prst="rect">
            <a:avLst/>
          </a:prstGeom>
          <a:solidFill>
            <a:srgbClr val="F4C430"/>
          </a:solidFill>
          <a:ln w="12700">
            <a:solidFill>
              <a:srgbClr val="F4C430"/>
            </a:solidFill>
            <a:prstDash val="solid"/>
          </a:ln>
        </p:spPr>
        <p:txBody>
          <a:bodyPr/>
          <a:p/>
        </p:txBody>
      </p:sp>
      <p:sp>
        <p:nvSpPr>
          <p:cNvPr id="10" name="Lane dash"/>
          <p:cNvSpPr/>
          <p:nvPr/>
        </p:nvSpPr>
        <p:spPr>
          <a:xfrm>
            <a:off x="1791818" y="5388429"/>
            <a:ext cx="179542" cy="36019"/>
          </a:xfrm>
          <a:prstGeom prst="rect">
            <a:avLst/>
          </a:prstGeom>
          <a:solidFill>
            <a:srgbClr val="F4C430"/>
          </a:solidFill>
          <a:ln w="12700">
            <a:solidFill>
              <a:srgbClr val="F4C430"/>
            </a:solidFill>
            <a:prstDash val="solid"/>
          </a:ln>
        </p:spPr>
        <p:txBody>
          <a:bodyPr/>
          <a:p/>
        </p:txBody>
      </p:sp>
      <p:sp>
        <p:nvSpPr>
          <p:cNvPr id="11" name="Lane dash"/>
          <p:cNvSpPr/>
          <p:nvPr/>
        </p:nvSpPr>
        <p:spPr>
          <a:xfrm>
            <a:off x="2137091" y="5388429"/>
            <a:ext cx="179542" cy="36019"/>
          </a:xfrm>
          <a:prstGeom prst="rect">
            <a:avLst/>
          </a:prstGeom>
          <a:solidFill>
            <a:srgbClr val="F4C430"/>
          </a:solidFill>
          <a:ln w="12700">
            <a:solidFill>
              <a:srgbClr val="F4C430"/>
            </a:solidFill>
            <a:prstDash val="solid"/>
          </a:ln>
        </p:spPr>
        <p:txBody>
          <a:bodyPr/>
          <a:p/>
        </p:txBody>
      </p:sp>
      <p:sp>
        <p:nvSpPr>
          <p:cNvPr id="12" name="Lane dash"/>
          <p:cNvSpPr/>
          <p:nvPr/>
        </p:nvSpPr>
        <p:spPr>
          <a:xfrm>
            <a:off x="2482364" y="5388429"/>
            <a:ext cx="179542" cy="36019"/>
          </a:xfrm>
          <a:prstGeom prst="rect">
            <a:avLst/>
          </a:prstGeom>
          <a:solidFill>
            <a:srgbClr val="F4C430"/>
          </a:solidFill>
          <a:ln w="12700">
            <a:solidFill>
              <a:srgbClr val="F4C430"/>
            </a:solidFill>
            <a:prstDash val="solid"/>
          </a:ln>
        </p:spPr>
        <p:txBody>
          <a:bodyPr/>
          <a:p/>
        </p:txBody>
      </p:sp>
      <p:sp>
        <p:nvSpPr>
          <p:cNvPr id="13" name="Lane dash"/>
          <p:cNvSpPr/>
          <p:nvPr/>
        </p:nvSpPr>
        <p:spPr>
          <a:xfrm>
            <a:off x="2827636" y="5388429"/>
            <a:ext cx="179542" cy="36019"/>
          </a:xfrm>
          <a:prstGeom prst="rect">
            <a:avLst/>
          </a:prstGeom>
          <a:solidFill>
            <a:srgbClr val="F4C430"/>
          </a:solidFill>
          <a:ln w="12700">
            <a:solidFill>
              <a:srgbClr val="F4C430"/>
            </a:solidFill>
            <a:prstDash val="solid"/>
          </a:ln>
        </p:spPr>
        <p:txBody>
          <a:bodyPr/>
          <a:p/>
        </p:txBody>
      </p:sp>
      <p:sp>
        <p:nvSpPr>
          <p:cNvPr id="14" name="Lane dash"/>
          <p:cNvSpPr/>
          <p:nvPr/>
        </p:nvSpPr>
        <p:spPr>
          <a:xfrm>
            <a:off x="3172909" y="5388429"/>
            <a:ext cx="179542" cy="36019"/>
          </a:xfrm>
          <a:prstGeom prst="rect">
            <a:avLst/>
          </a:prstGeom>
          <a:solidFill>
            <a:srgbClr val="F4C430"/>
          </a:solidFill>
          <a:ln w="12700">
            <a:solidFill>
              <a:srgbClr val="F4C430"/>
            </a:solidFill>
            <a:prstDash val="solid"/>
          </a:ln>
        </p:spPr>
        <p:txBody>
          <a:bodyPr/>
          <a:p/>
        </p:txBody>
      </p:sp>
      <p:sp>
        <p:nvSpPr>
          <p:cNvPr id="15" name="Lane dash"/>
          <p:cNvSpPr/>
          <p:nvPr/>
        </p:nvSpPr>
        <p:spPr>
          <a:xfrm>
            <a:off x="3518182" y="5388429"/>
            <a:ext cx="179542" cy="36019"/>
          </a:xfrm>
          <a:prstGeom prst="rect">
            <a:avLst/>
          </a:prstGeom>
          <a:solidFill>
            <a:srgbClr val="F4C430"/>
          </a:solidFill>
          <a:ln w="12700">
            <a:solidFill>
              <a:srgbClr val="F4C430"/>
            </a:solidFill>
            <a:prstDash val="solid"/>
          </a:ln>
        </p:spPr>
        <p:txBody>
          <a:bodyPr/>
          <a:p/>
        </p:txBody>
      </p:sp>
      <p:sp>
        <p:nvSpPr>
          <p:cNvPr id="16" name="Lane dash"/>
          <p:cNvSpPr/>
          <p:nvPr/>
        </p:nvSpPr>
        <p:spPr>
          <a:xfrm>
            <a:off x="3863455" y="5388429"/>
            <a:ext cx="179542" cy="36019"/>
          </a:xfrm>
          <a:prstGeom prst="rect">
            <a:avLst/>
          </a:prstGeom>
          <a:solidFill>
            <a:srgbClr val="F4C430"/>
          </a:solidFill>
          <a:ln w="12700">
            <a:solidFill>
              <a:srgbClr val="F4C430"/>
            </a:solidFill>
            <a:prstDash val="solid"/>
          </a:ln>
        </p:spPr>
        <p:txBody>
          <a:bodyPr/>
          <a:p/>
        </p:txBody>
      </p:sp>
      <p:sp>
        <p:nvSpPr>
          <p:cNvPr id="17" name="Lane dash"/>
          <p:cNvSpPr/>
          <p:nvPr/>
        </p:nvSpPr>
        <p:spPr>
          <a:xfrm>
            <a:off x="4208727" y="5388429"/>
            <a:ext cx="179542" cy="36019"/>
          </a:xfrm>
          <a:prstGeom prst="rect">
            <a:avLst/>
          </a:prstGeom>
          <a:solidFill>
            <a:srgbClr val="F4C430"/>
          </a:solidFill>
          <a:ln w="12700">
            <a:solidFill>
              <a:srgbClr val="F4C430"/>
            </a:solidFill>
            <a:prstDash val="solid"/>
          </a:ln>
        </p:spPr>
        <p:txBody>
          <a:bodyPr/>
          <a:p/>
        </p:txBody>
      </p:sp>
      <p:sp>
        <p:nvSpPr>
          <p:cNvPr id="18" name="Lane dash"/>
          <p:cNvSpPr/>
          <p:nvPr/>
        </p:nvSpPr>
        <p:spPr>
          <a:xfrm>
            <a:off x="4554000" y="5388429"/>
            <a:ext cx="179542" cy="36019"/>
          </a:xfrm>
          <a:prstGeom prst="rect">
            <a:avLst/>
          </a:prstGeom>
          <a:solidFill>
            <a:srgbClr val="F4C430"/>
          </a:solidFill>
          <a:ln w="12700">
            <a:solidFill>
              <a:srgbClr val="F4C430"/>
            </a:solidFill>
            <a:prstDash val="solid"/>
          </a:ln>
        </p:spPr>
        <p:txBody>
          <a:bodyPr/>
          <a:p/>
        </p:txBody>
      </p:sp>
      <p:sp>
        <p:nvSpPr>
          <p:cNvPr id="19" name="Lane dash"/>
          <p:cNvSpPr/>
          <p:nvPr/>
        </p:nvSpPr>
        <p:spPr>
          <a:xfrm>
            <a:off x="4899273" y="5388429"/>
            <a:ext cx="179542" cy="36019"/>
          </a:xfrm>
          <a:prstGeom prst="rect">
            <a:avLst/>
          </a:prstGeom>
          <a:solidFill>
            <a:srgbClr val="F4C430"/>
          </a:solidFill>
          <a:ln w="12700">
            <a:solidFill>
              <a:srgbClr val="F4C430"/>
            </a:solidFill>
            <a:prstDash val="solid"/>
          </a:ln>
        </p:spPr>
        <p:txBody>
          <a:bodyPr/>
          <a:p/>
        </p:txBody>
      </p:sp>
      <p:sp>
        <p:nvSpPr>
          <p:cNvPr id="20" name="Lane dash"/>
          <p:cNvSpPr/>
          <p:nvPr/>
        </p:nvSpPr>
        <p:spPr>
          <a:xfrm>
            <a:off x="5244545" y="5388429"/>
            <a:ext cx="179542" cy="36019"/>
          </a:xfrm>
          <a:prstGeom prst="rect">
            <a:avLst/>
          </a:prstGeom>
          <a:solidFill>
            <a:srgbClr val="F4C430"/>
          </a:solidFill>
          <a:ln w="12700">
            <a:solidFill>
              <a:srgbClr val="F4C430"/>
            </a:solidFill>
            <a:prstDash val="solid"/>
          </a:ln>
        </p:spPr>
        <p:txBody>
          <a:bodyPr/>
          <a:p/>
        </p:txBody>
      </p:sp>
      <p:sp>
        <p:nvSpPr>
          <p:cNvPr id="21" name="Lane dash"/>
          <p:cNvSpPr/>
          <p:nvPr/>
        </p:nvSpPr>
        <p:spPr>
          <a:xfrm>
            <a:off x="5589818" y="5388429"/>
            <a:ext cx="179542" cy="36019"/>
          </a:xfrm>
          <a:prstGeom prst="rect">
            <a:avLst/>
          </a:prstGeom>
          <a:solidFill>
            <a:srgbClr val="F4C430"/>
          </a:solidFill>
          <a:ln w="12700">
            <a:solidFill>
              <a:srgbClr val="F4C430"/>
            </a:solidFill>
            <a:prstDash val="solid"/>
          </a:ln>
        </p:spPr>
        <p:txBody>
          <a:bodyPr/>
          <a:p/>
        </p:txBody>
      </p:sp>
      <p:sp>
        <p:nvSpPr>
          <p:cNvPr id="22" name="Lane dash"/>
          <p:cNvSpPr/>
          <p:nvPr/>
        </p:nvSpPr>
        <p:spPr>
          <a:xfrm>
            <a:off x="5935091" y="5388429"/>
            <a:ext cx="179542" cy="36019"/>
          </a:xfrm>
          <a:prstGeom prst="rect">
            <a:avLst/>
          </a:prstGeom>
          <a:solidFill>
            <a:srgbClr val="F4C430"/>
          </a:solidFill>
          <a:ln w="12700">
            <a:solidFill>
              <a:srgbClr val="F4C430"/>
            </a:solidFill>
            <a:prstDash val="solid"/>
          </a:ln>
        </p:spPr>
        <p:txBody>
          <a:bodyPr/>
          <a:p/>
        </p:txBody>
      </p:sp>
      <p:sp>
        <p:nvSpPr>
          <p:cNvPr id="23" name="Lane dash"/>
          <p:cNvSpPr/>
          <p:nvPr/>
        </p:nvSpPr>
        <p:spPr>
          <a:xfrm>
            <a:off x="6280364" y="5388429"/>
            <a:ext cx="179542" cy="36019"/>
          </a:xfrm>
          <a:prstGeom prst="rect">
            <a:avLst/>
          </a:prstGeom>
          <a:solidFill>
            <a:srgbClr val="F4C430"/>
          </a:solidFill>
          <a:ln w="12700">
            <a:solidFill>
              <a:srgbClr val="F4C430"/>
            </a:solidFill>
            <a:prstDash val="solid"/>
          </a:ln>
        </p:spPr>
        <p:txBody>
          <a:bodyPr/>
          <a:p/>
        </p:txBody>
      </p:sp>
      <p:sp>
        <p:nvSpPr>
          <p:cNvPr id="24" name="Lane dash"/>
          <p:cNvSpPr/>
          <p:nvPr/>
        </p:nvSpPr>
        <p:spPr>
          <a:xfrm>
            <a:off x="6625636" y="5388429"/>
            <a:ext cx="179542" cy="36019"/>
          </a:xfrm>
          <a:prstGeom prst="rect">
            <a:avLst/>
          </a:prstGeom>
          <a:solidFill>
            <a:srgbClr val="F4C430"/>
          </a:solidFill>
          <a:ln w="12700">
            <a:solidFill>
              <a:srgbClr val="F4C430"/>
            </a:solidFill>
            <a:prstDash val="solid"/>
          </a:ln>
        </p:spPr>
        <p:txBody>
          <a:bodyPr/>
          <a:p/>
        </p:txBody>
      </p:sp>
      <p:sp>
        <p:nvSpPr>
          <p:cNvPr id="25" name="Lane dash"/>
          <p:cNvSpPr/>
          <p:nvPr/>
        </p:nvSpPr>
        <p:spPr>
          <a:xfrm>
            <a:off x="6970909" y="5388429"/>
            <a:ext cx="179542" cy="36019"/>
          </a:xfrm>
          <a:prstGeom prst="rect">
            <a:avLst/>
          </a:prstGeom>
          <a:solidFill>
            <a:srgbClr val="F4C430"/>
          </a:solidFill>
          <a:ln w="12700">
            <a:solidFill>
              <a:srgbClr val="F4C430"/>
            </a:solidFill>
            <a:prstDash val="solid"/>
          </a:ln>
        </p:spPr>
        <p:txBody>
          <a:bodyPr/>
          <a:p/>
        </p:txBody>
      </p:sp>
      <p:sp>
        <p:nvSpPr>
          <p:cNvPr id="26" name="Lane dash"/>
          <p:cNvSpPr/>
          <p:nvPr/>
        </p:nvSpPr>
        <p:spPr>
          <a:xfrm>
            <a:off x="7316182" y="5388429"/>
            <a:ext cx="179542" cy="36019"/>
          </a:xfrm>
          <a:prstGeom prst="rect">
            <a:avLst/>
          </a:prstGeom>
          <a:solidFill>
            <a:srgbClr val="F4C430"/>
          </a:solidFill>
          <a:ln w="12700">
            <a:solidFill>
              <a:srgbClr val="F4C430"/>
            </a:solidFill>
            <a:prstDash val="solid"/>
          </a:ln>
        </p:spPr>
        <p:txBody>
          <a:bodyPr/>
          <a:p/>
        </p:txBody>
      </p:sp>
      <p:sp>
        <p:nvSpPr>
          <p:cNvPr id="27" name="Lane dash"/>
          <p:cNvSpPr/>
          <p:nvPr/>
        </p:nvSpPr>
        <p:spPr>
          <a:xfrm>
            <a:off x="7661455" y="5388429"/>
            <a:ext cx="179542" cy="36019"/>
          </a:xfrm>
          <a:prstGeom prst="rect">
            <a:avLst/>
          </a:prstGeom>
          <a:solidFill>
            <a:srgbClr val="F4C430"/>
          </a:solidFill>
          <a:ln w="12700">
            <a:solidFill>
              <a:srgbClr val="F4C430"/>
            </a:solidFill>
            <a:prstDash val="solid"/>
          </a:ln>
        </p:spPr>
        <p:txBody>
          <a:bodyPr/>
          <a:p/>
        </p:txBody>
      </p:sp>
      <p:sp>
        <p:nvSpPr>
          <p:cNvPr id="28" name="Lane dash"/>
          <p:cNvSpPr/>
          <p:nvPr/>
        </p:nvSpPr>
        <p:spPr>
          <a:xfrm>
            <a:off x="8006727" y="5388429"/>
            <a:ext cx="179542" cy="36019"/>
          </a:xfrm>
          <a:prstGeom prst="rect">
            <a:avLst/>
          </a:prstGeom>
          <a:solidFill>
            <a:srgbClr val="F4C430"/>
          </a:solidFill>
          <a:ln w="12700">
            <a:solidFill>
              <a:srgbClr val="F4C430"/>
            </a:solidFill>
            <a:prstDash val="solid"/>
          </a:ln>
        </p:spPr>
        <p:txBody>
          <a:bodyPr/>
          <a:p/>
        </p:txBody>
      </p:sp>
      <p:sp>
        <p:nvSpPr>
          <p:cNvPr id="29" name="Shape 27"/>
          <p:cNvSpPr/>
          <p:nvPr/>
        </p:nvSpPr>
        <p:spPr>
          <a:xfrm>
            <a:off x="316800" y="5561319"/>
            <a:ext cx="8510400" cy="79242"/>
          </a:xfrm>
          <a:prstGeom prst="rect">
            <a:avLst/>
          </a:prstGeom>
          <a:solidFill>
            <a:srgbClr val="FF7A1F"/>
          </a:solidFill>
          <a:ln w="12700">
            <a:solidFill>
              <a:srgbClr val="FF7A1F"/>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p:nvPr>
            <p:ph idx="107" type="title" hasCustomPrompt="1"/>
          </p:nvPr>
        </p:nvSpPr>
        <p:spPr>
          <a:xfrm>
            <a:off x="457200" y="713232"/>
            <a:ext cx="8229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ABSTRACT</a:t>
            </a:r>
            <a:endParaRPr lang="en-US" sz="4000" dirty="0"/>
          </a:p>
        </p:txBody>
      </p:sp>
      <p:sp>
        <p:nvSpPr>
          <p:cNvPr id="3" name="Text 1"/>
          <p:cNvSpPr txBox="1"/>
          <p:nvPr/>
        </p:nvSpPr>
        <p:spPr>
          <a:xfrm>
            <a:off x="685800" y="1691640"/>
            <a:ext cx="7772400" cy="4572000"/>
          </a:xfrm>
          <a:prstGeom prst="rect">
            <a:avLst/>
          </a:prstGeom>
          <a:noFill/>
          <a:ln/>
        </p:spPr>
        <p:txBody>
          <a:bodyPr wrap="square" lIns="0" tIns="0" rIns="0" bIns="0" rtlCol="0" anchor="t"/>
          <a:lstStyle/>
          <a:p>
            <a:pPr algn="just" indent="0" marL="0">
              <a:lnSpc>
                <a:spcPct val="135000"/>
              </a:lnSpc>
              <a:buNone/>
            </a:pPr>
            <a:r>
              <a:rPr lang="en-US" sz="2200" dirty="0">
                <a:solidFill>
                  <a:srgbClr val="000000"/>
                </a:solidFill>
                <a:latin typeface="Times New Roman" pitchFamily="34" charset="0"/>
                <a:ea typeface="Times New Roman" pitchFamily="34" charset="-122"/>
                <a:cs typeface="Times New Roman" pitchFamily="34" charset="-120"/>
              </a:rPr>
              <a:t>Applications generate huge volumes of log data, and finding bugs in them by hand is slow and error-prone. The NLP Log Processor and Bug Reporter uses Natural Language Processing with the Google Gemini AI engine to read log files and live log streams, identify errors, and turn them into structured bug reports with a category, priority, root cause and suggested fix. Sensitive data such as passwords and API keys is masked before analysis, repeated errors are grouped automatically, and every report is stored in a PostgreSQL database and shared to GitHub, Slack or Jira.</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p:nvPr>
            <p:ph idx="107" type="title" hasCustomPrompt="1"/>
          </p:nvPr>
        </p:nvSpPr>
        <p:spPr>
          <a:xfrm>
            <a:off x="457200" y="713232"/>
            <a:ext cx="8229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OBJECTIVES</a:t>
            </a:r>
            <a:endParaRPr lang="en-US" sz="4000" dirty="0"/>
          </a:p>
        </p:txBody>
      </p:sp>
      <p:sp>
        <p:nvSpPr>
          <p:cNvPr id="3" name="Text 1"/>
          <p:cNvSpPr txBox="1"/>
          <p:nvPr/>
        </p:nvSpPr>
        <p:spPr>
          <a:xfrm>
            <a:off x="640080" y="1737360"/>
            <a:ext cx="7863840" cy="4480560"/>
          </a:xfrm>
          <a:prstGeom prst="rect">
            <a:avLst/>
          </a:prstGeom>
          <a:noFill/>
          <a:ln/>
        </p:spPr>
        <p:txBody>
          <a:bodyPr wrap="square" lIns="0" tIns="0" rIns="0" bIns="0" rtlCol="0" anchor="t"/>
          <a:lstStyle/>
          <a:p>
            <a:pPr algn="l" marL="342900" indent="-342900">
              <a:spcAft>
                <a:spcPts val="1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Study common log formats and the types of errors found in application logs.</a:t>
            </a:r>
            <a:endParaRPr lang="en-US" sz="2400" dirty="0"/>
          </a:p>
          <a:p>
            <a:pPr algn="l" marL="342900" indent="-342900">
              <a:spcAft>
                <a:spcPts val="1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Build an NLP pipeline using Google Gemini to detect, categorise and prioritise bugs.</a:t>
            </a:r>
            <a:endParaRPr lang="en-US" sz="2400" dirty="0"/>
          </a:p>
          <a:p>
            <a:pPr algn="l" marL="342900" indent="-342900">
              <a:spcAft>
                <a:spcPts val="1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Protect sensitive data by masking secrets and personal details before analysis.</a:t>
            </a:r>
            <a:endParaRPr lang="en-US" sz="2400" dirty="0"/>
          </a:p>
          <a:p>
            <a:pPr algn="l" marL="342900" indent="-342900">
              <a:spcAft>
                <a:spcPts val="1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Group repeated errors and track their occurrences and resolution time (MTTR).</a:t>
            </a:r>
            <a:endParaRPr lang="en-US" sz="2400" dirty="0"/>
          </a:p>
          <a:p>
            <a:pPr algn="l" marL="342900" indent="-342900">
              <a:spcAft>
                <a:spcPts val="1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Build a web dashboard that stores every report and alerts the team instantly.</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p:nvPr>
            <p:ph idx="107" type="title" hasCustomPrompt="1"/>
          </p:nvPr>
        </p:nvSpPr>
        <p:spPr>
          <a:xfrm>
            <a:off x="457200" y="713232"/>
            <a:ext cx="8229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SYSTEM ANALYSIS</a:t>
            </a:r>
            <a:endParaRPr lang="en-US" sz="4000" dirty="0"/>
          </a:p>
        </p:txBody>
      </p:sp>
      <p:sp>
        <p:nvSpPr>
          <p:cNvPr id="3" name="Text 1"/>
          <p:cNvSpPr txBox="1"/>
          <p:nvPr/>
        </p:nvSpPr>
        <p:spPr>
          <a:xfrm>
            <a:off x="365760" y="1508760"/>
            <a:ext cx="5486400" cy="365760"/>
          </a:xfrm>
          <a:prstGeom prst="rect">
            <a:avLst/>
          </a:prstGeom>
          <a:noFill/>
          <a:ln/>
        </p:spPr>
        <p:txBody>
          <a:bodyPr wrap="square" lIns="0" tIns="0" rIns="0" bIns="0" rtlCol="0" anchor="ctr"/>
          <a:lstStyle/>
          <a:p>
            <a:pPr indent="0" marL="0">
              <a:buNone/>
            </a:pPr>
            <a:r>
              <a:rPr lang="en-US" sz="2200" b="1" dirty="0">
                <a:solidFill>
                  <a:srgbClr val="000000"/>
                </a:solidFill>
                <a:latin typeface="Times New Roman" pitchFamily="34" charset="0"/>
                <a:ea typeface="Times New Roman" pitchFamily="34" charset="-122"/>
                <a:cs typeface="Times New Roman" pitchFamily="34" charset="-120"/>
              </a:rPr>
              <a:t>Existing System</a:t>
            </a:r>
            <a:endParaRPr lang="en-US" sz="2200" dirty="0"/>
          </a:p>
        </p:txBody>
      </p:sp>
      <p:sp>
        <p:nvSpPr>
          <p:cNvPr id="4" name="Text 2"/>
          <p:cNvSpPr txBox="1"/>
          <p:nvPr/>
        </p:nvSpPr>
        <p:spPr>
          <a:xfrm>
            <a:off x="685800" y="1965960"/>
            <a:ext cx="7863840" cy="17373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000000"/>
                </a:solidFill>
                <a:latin typeface="Times New Roman" pitchFamily="34" charset="0"/>
                <a:ea typeface="Times New Roman" pitchFamily="34" charset="-122"/>
                <a:cs typeface="Times New Roman" pitchFamily="34" charset="-120"/>
              </a:rPr>
              <a:t>Developers read through log files manually -- slow and tiring.</a:t>
            </a:r>
            <a:endParaRPr lang="en-US" sz="2000" dirty="0"/>
          </a:p>
          <a:p>
            <a:pPr marL="342900" indent="-342900">
              <a:spcAft>
                <a:spcPts val="800"/>
              </a:spcAft>
              <a:buSzPct val="100000"/>
              <a:buChar char="•"/>
            </a:pPr>
            <a:r>
              <a:rPr lang="en-US" sz="2000" dirty="0">
                <a:solidFill>
                  <a:srgbClr val="000000"/>
                </a:solidFill>
                <a:latin typeface="Times New Roman" pitchFamily="34" charset="0"/>
                <a:ea typeface="Times New Roman" pitchFamily="34" charset="-122"/>
                <a:cs typeface="Times New Roman" pitchFamily="34" charset="-120"/>
              </a:rPr>
              <a:t>Critical errors are easily missed among thousands of lines.</a:t>
            </a:r>
            <a:endParaRPr lang="en-US" sz="2000" dirty="0"/>
          </a:p>
          <a:p>
            <a:pPr marL="342900" indent="-342900">
              <a:spcAft>
                <a:spcPts val="800"/>
              </a:spcAft>
              <a:buSzPct val="100000"/>
              <a:buChar char="•"/>
            </a:pPr>
            <a:r>
              <a:rPr lang="en-US" sz="2000" dirty="0">
                <a:solidFill>
                  <a:srgbClr val="000000"/>
                </a:solidFill>
                <a:latin typeface="Times New Roman" pitchFamily="34" charset="0"/>
                <a:ea typeface="Times New Roman" pitchFamily="34" charset="-122"/>
                <a:cs typeface="Times New Roman" pitchFamily="34" charset="-120"/>
              </a:rPr>
              <a:t>Bug reports are written by hand, so they are inconsistent and delayed.</a:t>
            </a:r>
            <a:endParaRPr lang="en-US" sz="2000" dirty="0"/>
          </a:p>
        </p:txBody>
      </p:sp>
      <p:sp>
        <p:nvSpPr>
          <p:cNvPr id="5" name="Text 3"/>
          <p:cNvSpPr txBox="1"/>
          <p:nvPr/>
        </p:nvSpPr>
        <p:spPr>
          <a:xfrm>
            <a:off x="365760" y="3977640"/>
            <a:ext cx="5486400" cy="365760"/>
          </a:xfrm>
          <a:prstGeom prst="rect">
            <a:avLst/>
          </a:prstGeom>
          <a:noFill/>
          <a:ln/>
        </p:spPr>
        <p:txBody>
          <a:bodyPr wrap="square" lIns="0" tIns="0" rIns="0" bIns="0" rtlCol="0" anchor="ctr"/>
          <a:lstStyle/>
          <a:p>
            <a:pPr indent="0" marL="0">
              <a:buNone/>
            </a:pPr>
            <a:r>
              <a:rPr lang="en-US" sz="2200" b="1" dirty="0">
                <a:solidFill>
                  <a:srgbClr val="000000"/>
                </a:solidFill>
                <a:latin typeface="Times New Roman" pitchFamily="34" charset="0"/>
                <a:ea typeface="Times New Roman" pitchFamily="34" charset="-122"/>
                <a:cs typeface="Times New Roman" pitchFamily="34" charset="-120"/>
              </a:rPr>
              <a:t>Proposed System</a:t>
            </a:r>
            <a:endParaRPr lang="en-US" sz="2200" dirty="0"/>
          </a:p>
        </p:txBody>
      </p:sp>
      <p:sp>
        <p:nvSpPr>
          <p:cNvPr id="6" name="Text 4"/>
          <p:cNvSpPr txBox="1"/>
          <p:nvPr/>
        </p:nvSpPr>
        <p:spPr>
          <a:xfrm>
            <a:off x="685800" y="4434840"/>
            <a:ext cx="7863840" cy="17373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000000"/>
                </a:solidFill>
                <a:latin typeface="Times New Roman" pitchFamily="34" charset="0"/>
                <a:ea typeface="Times New Roman" pitchFamily="34" charset="-122"/>
                <a:cs typeface="Times New Roman" pitchFamily="34" charset="-120"/>
              </a:rPr>
              <a:t>Automatic bug detection and classification using NLP and Gemini AI.</a:t>
            </a:r>
            <a:endParaRPr lang="en-US" sz="2000" dirty="0"/>
          </a:p>
          <a:p>
            <a:pPr marL="342900" indent="-342900">
              <a:spcAft>
                <a:spcPts val="800"/>
              </a:spcAft>
              <a:buSzPct val="100000"/>
              <a:buChar char="•"/>
            </a:pPr>
            <a:r>
              <a:rPr lang="en-US" sz="2000" dirty="0">
                <a:solidFill>
                  <a:srgbClr val="000000"/>
                </a:solidFill>
                <a:latin typeface="Times New Roman" pitchFamily="34" charset="0"/>
                <a:ea typeface="Times New Roman" pitchFamily="34" charset="-122"/>
                <a:cs typeface="Times New Roman" pitchFamily="34" charset="-120"/>
              </a:rPr>
              <a:t>Category, priority, root cause and fix generated in seconds.</a:t>
            </a:r>
            <a:endParaRPr lang="en-US" sz="2000" dirty="0"/>
          </a:p>
          <a:p>
            <a:pPr marL="342900" indent="-342900">
              <a:spcAft>
                <a:spcPts val="800"/>
              </a:spcAft>
              <a:buSzPct val="100000"/>
              <a:buChar char="•"/>
            </a:pPr>
            <a:r>
              <a:rPr lang="en-US" sz="2000" dirty="0">
                <a:solidFill>
                  <a:srgbClr val="000000"/>
                </a:solidFill>
                <a:latin typeface="Times New Roman" pitchFamily="34" charset="0"/>
                <a:ea typeface="Times New Roman" pitchFamily="34" charset="-122"/>
                <a:cs typeface="Times New Roman" pitchFamily="34" charset="-120"/>
              </a:rPr>
              <a:t>Reports stored in a database and shared to GitHub, Slack and more.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p:nvPr>
            <p:ph idx="107" type="title" hasCustomPrompt="1"/>
          </p:nvPr>
        </p:nvSpPr>
        <p:spPr>
          <a:xfrm>
            <a:off x="457200" y="713232"/>
            <a:ext cx="8229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SYSTEM REQUIREMENTS</a:t>
            </a:r>
            <a:endParaRPr lang="en-US" sz="4000" dirty="0"/>
          </a:p>
        </p:txBody>
      </p:sp>
      <p:sp>
        <p:nvSpPr>
          <p:cNvPr id="3" name="Text 1"/>
          <p:cNvSpPr txBox="1"/>
          <p:nvPr/>
        </p:nvSpPr>
        <p:spPr>
          <a:xfrm>
            <a:off x="548640" y="1554480"/>
            <a:ext cx="7315200" cy="411480"/>
          </a:xfrm>
          <a:prstGeom prst="rect">
            <a:avLst/>
          </a:prstGeom>
          <a:noFill/>
          <a:ln/>
        </p:spPr>
        <p:txBody>
          <a:bodyPr wrap="square" lIns="0" tIns="0" rIns="0" bIns="0" rtlCol="0" anchor="ctr"/>
          <a:lstStyle/>
          <a:p>
            <a:pPr indent="0" marL="0">
              <a:buNone/>
            </a:pPr>
            <a:r>
              <a:rPr lang="en-US" sz="2200" b="1" dirty="0">
                <a:solidFill>
                  <a:srgbClr val="000000"/>
                </a:solidFill>
                <a:latin typeface="Times New Roman" pitchFamily="34" charset="0"/>
                <a:ea typeface="Times New Roman" pitchFamily="34" charset="-122"/>
                <a:cs typeface="Times New Roman" pitchFamily="34" charset="-120"/>
              </a:rPr>
              <a:t>HARDWARE SPECIFICATION:</a:t>
            </a:r>
            <a:endParaRPr lang="en-US" sz="2200" dirty="0"/>
          </a:p>
        </p:txBody>
      </p:sp>
      <p:sp>
        <p:nvSpPr>
          <p:cNvPr id="4" name="Text 2"/>
          <p:cNvSpPr txBox="1"/>
          <p:nvPr/>
        </p:nvSpPr>
        <p:spPr>
          <a:xfrm>
            <a:off x="822960" y="2240280"/>
            <a:ext cx="2743200" cy="86868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Processor</a:t>
            </a:r>
            <a:endParaRPr lang="en-US" sz="2000" dirty="0"/>
          </a:p>
        </p:txBody>
      </p:sp>
      <p:sp>
        <p:nvSpPr>
          <p:cNvPr id="5" name="Text 3"/>
          <p:cNvSpPr txBox="1"/>
          <p:nvPr/>
        </p:nvSpPr>
        <p:spPr>
          <a:xfrm>
            <a:off x="3657600" y="2240280"/>
            <a:ext cx="274320" cy="86868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a:t>
            </a:r>
            <a:endParaRPr lang="en-US" sz="2000" dirty="0"/>
          </a:p>
        </p:txBody>
      </p:sp>
      <p:sp>
        <p:nvSpPr>
          <p:cNvPr id="6" name="Text 4"/>
          <p:cNvSpPr txBox="1"/>
          <p:nvPr/>
        </p:nvSpPr>
        <p:spPr>
          <a:xfrm>
            <a:off x="3840480" y="2240280"/>
            <a:ext cx="4206240" cy="868680"/>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Intel Core i5 or above</a:t>
            </a:r>
            <a:endParaRPr lang="en-US" sz="2000" dirty="0"/>
          </a:p>
        </p:txBody>
      </p:sp>
      <p:sp>
        <p:nvSpPr>
          <p:cNvPr id="7" name="Text 5"/>
          <p:cNvSpPr txBox="1"/>
          <p:nvPr/>
        </p:nvSpPr>
        <p:spPr>
          <a:xfrm>
            <a:off x="822960" y="3200400"/>
            <a:ext cx="2743200" cy="86868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RAM</a:t>
            </a:r>
            <a:endParaRPr lang="en-US" sz="2000" dirty="0"/>
          </a:p>
        </p:txBody>
      </p:sp>
      <p:sp>
        <p:nvSpPr>
          <p:cNvPr id="8" name="Text 6"/>
          <p:cNvSpPr txBox="1"/>
          <p:nvPr/>
        </p:nvSpPr>
        <p:spPr>
          <a:xfrm>
            <a:off x="3657600" y="3200400"/>
            <a:ext cx="274320" cy="86868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a:t>
            </a:r>
            <a:endParaRPr lang="en-US" sz="2000" dirty="0"/>
          </a:p>
        </p:txBody>
      </p:sp>
      <p:sp>
        <p:nvSpPr>
          <p:cNvPr id="9" name="Text 7"/>
          <p:cNvSpPr txBox="1"/>
          <p:nvPr/>
        </p:nvSpPr>
        <p:spPr>
          <a:xfrm>
            <a:off x="3840480" y="3200400"/>
            <a:ext cx="4206240" cy="868680"/>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8 GB minimum; 16 GB recommended</a:t>
            </a:r>
            <a:endParaRPr lang="en-US" sz="2000" dirty="0"/>
          </a:p>
        </p:txBody>
      </p:sp>
      <p:sp>
        <p:nvSpPr>
          <p:cNvPr id="10" name="Text 8"/>
          <p:cNvSpPr txBox="1"/>
          <p:nvPr/>
        </p:nvSpPr>
        <p:spPr>
          <a:xfrm>
            <a:off x="822960" y="4160520"/>
            <a:ext cx="2743200" cy="86868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Storage</a:t>
            </a:r>
            <a:endParaRPr lang="en-US" sz="2000" dirty="0"/>
          </a:p>
        </p:txBody>
      </p:sp>
      <p:sp>
        <p:nvSpPr>
          <p:cNvPr id="11" name="Text 9"/>
          <p:cNvSpPr txBox="1"/>
          <p:nvPr/>
        </p:nvSpPr>
        <p:spPr>
          <a:xfrm>
            <a:off x="3657600" y="4160520"/>
            <a:ext cx="274320" cy="86868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a:t>
            </a:r>
            <a:endParaRPr lang="en-US" sz="2000" dirty="0"/>
          </a:p>
        </p:txBody>
      </p:sp>
      <p:sp>
        <p:nvSpPr>
          <p:cNvPr id="12" name="Text 10"/>
          <p:cNvSpPr txBox="1"/>
          <p:nvPr/>
        </p:nvSpPr>
        <p:spPr>
          <a:xfrm>
            <a:off x="3840480" y="4160520"/>
            <a:ext cx="4206240" cy="868680"/>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Minimum 256 GB</a:t>
            </a:r>
            <a:endParaRPr lang="en-US" sz="2000" dirty="0"/>
          </a:p>
        </p:txBody>
      </p:sp>
      <p:sp>
        <p:nvSpPr>
          <p:cNvPr id="13" name="Text 11"/>
          <p:cNvSpPr txBox="1"/>
          <p:nvPr/>
        </p:nvSpPr>
        <p:spPr>
          <a:xfrm>
            <a:off x="822960" y="5120640"/>
            <a:ext cx="2743200" cy="86868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Internet Connection</a:t>
            </a:r>
            <a:endParaRPr lang="en-US" sz="2000" dirty="0"/>
          </a:p>
        </p:txBody>
      </p:sp>
      <p:sp>
        <p:nvSpPr>
          <p:cNvPr id="14" name="Text 12"/>
          <p:cNvSpPr txBox="1"/>
          <p:nvPr/>
        </p:nvSpPr>
        <p:spPr>
          <a:xfrm>
            <a:off x="3657600" y="5120640"/>
            <a:ext cx="274320" cy="86868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a:t>
            </a:r>
            <a:endParaRPr lang="en-US" sz="2000" dirty="0"/>
          </a:p>
        </p:txBody>
      </p:sp>
      <p:sp>
        <p:nvSpPr>
          <p:cNvPr id="15" name="Text 13"/>
          <p:cNvSpPr txBox="1"/>
          <p:nvPr/>
        </p:nvSpPr>
        <p:spPr>
          <a:xfrm>
            <a:off x="3840480" y="5120640"/>
            <a:ext cx="4206240" cy="868680"/>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Stable 4G/5G or wifi connection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234440"/>
            <a:ext cx="7315200" cy="50292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SOFTWARE SPECIFICATION:</a:t>
            </a:r>
            <a:endParaRPr lang="en-US" sz="2400" dirty="0"/>
          </a:p>
        </p:txBody>
      </p:sp>
      <p:sp>
        <p:nvSpPr>
          <p:cNvPr id="3" name="Text 1"/>
          <p:cNvSpPr txBox="1"/>
          <p:nvPr/>
        </p:nvSpPr>
        <p:spPr>
          <a:xfrm>
            <a:off x="822960" y="2011680"/>
            <a:ext cx="265176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Operating System</a:t>
            </a:r>
            <a:endParaRPr lang="en-US" sz="2400" dirty="0"/>
          </a:p>
        </p:txBody>
      </p:sp>
      <p:sp>
        <p:nvSpPr>
          <p:cNvPr id="4" name="Text 2"/>
          <p:cNvSpPr txBox="1"/>
          <p:nvPr/>
        </p:nvSpPr>
        <p:spPr>
          <a:xfrm>
            <a:off x="3566160" y="2011680"/>
            <a:ext cx="27432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a:t>
            </a:r>
            <a:endParaRPr lang="en-US" sz="2400" dirty="0"/>
          </a:p>
        </p:txBody>
      </p:sp>
      <p:sp>
        <p:nvSpPr>
          <p:cNvPr id="5" name="Text 3"/>
          <p:cNvSpPr txBox="1"/>
          <p:nvPr/>
        </p:nvSpPr>
        <p:spPr>
          <a:xfrm>
            <a:off x="3840480" y="2011680"/>
            <a:ext cx="4389120" cy="777240"/>
          </a:xfrm>
          <a:prstGeom prst="rect">
            <a:avLst/>
          </a:prstGeom>
          <a:noFill/>
          <a:ln/>
        </p:spPr>
        <p:txBody>
          <a:bodyPr wrap="square" lIns="0" tIns="0" rIns="0" bIns="0" rtlCol="0" anchor="ctr"/>
          <a:lstStyle/>
          <a:p>
            <a:pPr indent="0" marL="0">
              <a:buNone/>
            </a:pPr>
            <a:r>
              <a:rPr lang="en-US" sz="2400" dirty="0">
                <a:solidFill>
                  <a:srgbClr val="000000"/>
                </a:solidFill>
                <a:latin typeface="Times New Roman" pitchFamily="34" charset="0"/>
                <a:ea typeface="Times New Roman" pitchFamily="34" charset="-122"/>
                <a:cs typeface="Times New Roman" pitchFamily="34" charset="-120"/>
              </a:rPr>
              <a:t>Windows 11</a:t>
            </a:r>
            <a:endParaRPr lang="en-US" sz="2400" dirty="0"/>
          </a:p>
        </p:txBody>
      </p:sp>
      <p:sp>
        <p:nvSpPr>
          <p:cNvPr id="6" name="Text 4"/>
          <p:cNvSpPr txBox="1"/>
          <p:nvPr/>
        </p:nvSpPr>
        <p:spPr>
          <a:xfrm>
            <a:off x="822960" y="2880360"/>
            <a:ext cx="265176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Frontend</a:t>
            </a:r>
            <a:endParaRPr lang="en-US" sz="2400" dirty="0"/>
          </a:p>
        </p:txBody>
      </p:sp>
      <p:sp>
        <p:nvSpPr>
          <p:cNvPr id="7" name="Text 5"/>
          <p:cNvSpPr txBox="1"/>
          <p:nvPr/>
        </p:nvSpPr>
        <p:spPr>
          <a:xfrm>
            <a:off x="3566160" y="2880360"/>
            <a:ext cx="27432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a:t>
            </a:r>
            <a:endParaRPr lang="en-US" sz="2400" dirty="0"/>
          </a:p>
        </p:txBody>
      </p:sp>
      <p:sp>
        <p:nvSpPr>
          <p:cNvPr id="8" name="Text 6"/>
          <p:cNvSpPr txBox="1"/>
          <p:nvPr/>
        </p:nvSpPr>
        <p:spPr>
          <a:xfrm>
            <a:off x="3840480" y="2880360"/>
            <a:ext cx="4389120" cy="777240"/>
          </a:xfrm>
          <a:prstGeom prst="rect">
            <a:avLst/>
          </a:prstGeom>
          <a:noFill/>
          <a:ln/>
        </p:spPr>
        <p:txBody>
          <a:bodyPr wrap="square" lIns="0" tIns="0" rIns="0" bIns="0" rtlCol="0" anchor="ctr"/>
          <a:lstStyle/>
          <a:p>
            <a:pPr indent="0" marL="0">
              <a:buNone/>
            </a:pPr>
            <a:r>
              <a:rPr lang="en-US" sz="2400" dirty="0">
                <a:solidFill>
                  <a:srgbClr val="000000"/>
                </a:solidFill>
                <a:latin typeface="Times New Roman" pitchFamily="34" charset="0"/>
                <a:ea typeface="Times New Roman" pitchFamily="34" charset="-122"/>
                <a:cs typeface="Times New Roman" pitchFamily="34" charset="-120"/>
              </a:rPr>
              <a:t>React and Tailwind CSS</a:t>
            </a:r>
            <a:endParaRPr lang="en-US" sz="2400" dirty="0"/>
          </a:p>
        </p:txBody>
      </p:sp>
      <p:sp>
        <p:nvSpPr>
          <p:cNvPr id="9" name="Text 7"/>
          <p:cNvSpPr txBox="1"/>
          <p:nvPr/>
        </p:nvSpPr>
        <p:spPr>
          <a:xfrm>
            <a:off x="822960" y="3749040"/>
            <a:ext cx="265176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Backend</a:t>
            </a:r>
            <a:endParaRPr lang="en-US" sz="2400" dirty="0"/>
          </a:p>
        </p:txBody>
      </p:sp>
      <p:sp>
        <p:nvSpPr>
          <p:cNvPr id="10" name="Text 8"/>
          <p:cNvSpPr txBox="1"/>
          <p:nvPr/>
        </p:nvSpPr>
        <p:spPr>
          <a:xfrm>
            <a:off x="3566160" y="3749040"/>
            <a:ext cx="27432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a:t>
            </a:r>
            <a:endParaRPr lang="en-US" sz="2400" dirty="0"/>
          </a:p>
        </p:txBody>
      </p:sp>
      <p:sp>
        <p:nvSpPr>
          <p:cNvPr id="11" name="Text 9"/>
          <p:cNvSpPr txBox="1"/>
          <p:nvPr/>
        </p:nvSpPr>
        <p:spPr>
          <a:xfrm>
            <a:off x="3840480" y="3749040"/>
            <a:ext cx="4389120" cy="777240"/>
          </a:xfrm>
          <a:prstGeom prst="rect">
            <a:avLst/>
          </a:prstGeom>
          <a:noFill/>
          <a:ln/>
        </p:spPr>
        <p:txBody>
          <a:bodyPr wrap="square" lIns="0" tIns="0" rIns="0" bIns="0" rtlCol="0" anchor="ctr"/>
          <a:lstStyle/>
          <a:p>
            <a:pPr indent="0" marL="0">
              <a:buNone/>
            </a:pPr>
            <a:r>
              <a:rPr lang="en-US" sz="2400" dirty="0">
                <a:solidFill>
                  <a:srgbClr val="000000"/>
                </a:solidFill>
                <a:latin typeface="Times New Roman" pitchFamily="34" charset="0"/>
                <a:ea typeface="Times New Roman" pitchFamily="34" charset="-122"/>
                <a:cs typeface="Times New Roman" pitchFamily="34" charset="-120"/>
              </a:rPr>
              <a:t>Python, FastAPI and Gemini AI</a:t>
            </a:r>
            <a:endParaRPr lang="en-US" sz="2400" dirty="0"/>
          </a:p>
        </p:txBody>
      </p:sp>
      <p:sp>
        <p:nvSpPr>
          <p:cNvPr id="12" name="Text 10"/>
          <p:cNvSpPr txBox="1"/>
          <p:nvPr/>
        </p:nvSpPr>
        <p:spPr>
          <a:xfrm>
            <a:off x="822960" y="4617720"/>
            <a:ext cx="265176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Database</a:t>
            </a:r>
            <a:endParaRPr lang="en-US" sz="2400" dirty="0"/>
          </a:p>
        </p:txBody>
      </p:sp>
      <p:sp>
        <p:nvSpPr>
          <p:cNvPr id="13" name="Text 11"/>
          <p:cNvSpPr txBox="1"/>
          <p:nvPr/>
        </p:nvSpPr>
        <p:spPr>
          <a:xfrm>
            <a:off x="3566160" y="4617720"/>
            <a:ext cx="27432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a:t>
            </a:r>
            <a:endParaRPr lang="en-US" sz="2400" dirty="0"/>
          </a:p>
        </p:txBody>
      </p:sp>
      <p:sp>
        <p:nvSpPr>
          <p:cNvPr id="14" name="Text 12"/>
          <p:cNvSpPr txBox="1"/>
          <p:nvPr/>
        </p:nvSpPr>
        <p:spPr>
          <a:xfrm>
            <a:off x="3840480" y="4617720"/>
            <a:ext cx="4389120" cy="777240"/>
          </a:xfrm>
          <a:prstGeom prst="rect">
            <a:avLst/>
          </a:prstGeom>
          <a:noFill/>
          <a:ln/>
        </p:spPr>
        <p:txBody>
          <a:bodyPr wrap="square" lIns="0" tIns="0" rIns="0" bIns="0" rtlCol="0" anchor="ctr"/>
          <a:lstStyle/>
          <a:p>
            <a:pPr indent="0" marL="0">
              <a:buNone/>
            </a:pPr>
            <a:r>
              <a:rPr lang="en-US" sz="2400" dirty="0">
                <a:solidFill>
                  <a:srgbClr val="000000"/>
                </a:solidFill>
                <a:latin typeface="Times New Roman" pitchFamily="34" charset="0"/>
                <a:ea typeface="Times New Roman" pitchFamily="34" charset="-122"/>
                <a:cs typeface="Times New Roman" pitchFamily="34" charset="-120"/>
              </a:rPr>
              <a:t>PostgreSQL (SQLite as fallback)</a:t>
            </a:r>
            <a:endParaRPr lang="en-US" sz="2400" dirty="0"/>
          </a:p>
        </p:txBody>
      </p:sp>
      <p:sp>
        <p:nvSpPr>
          <p:cNvPr id="15" name="Text 13"/>
          <p:cNvSpPr txBox="1"/>
          <p:nvPr/>
        </p:nvSpPr>
        <p:spPr>
          <a:xfrm>
            <a:off x="822960" y="5486400"/>
            <a:ext cx="265176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Tool</a:t>
            </a:r>
            <a:endParaRPr lang="en-US" sz="2400" dirty="0"/>
          </a:p>
        </p:txBody>
      </p:sp>
      <p:sp>
        <p:nvSpPr>
          <p:cNvPr id="16" name="Text 14"/>
          <p:cNvSpPr txBox="1"/>
          <p:nvPr/>
        </p:nvSpPr>
        <p:spPr>
          <a:xfrm>
            <a:off x="3566160" y="5486400"/>
            <a:ext cx="274320" cy="77724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a:t>
            </a:r>
            <a:endParaRPr lang="en-US" sz="2400" dirty="0"/>
          </a:p>
        </p:txBody>
      </p:sp>
      <p:sp>
        <p:nvSpPr>
          <p:cNvPr id="17" name="Text 15"/>
          <p:cNvSpPr txBox="1"/>
          <p:nvPr/>
        </p:nvSpPr>
        <p:spPr>
          <a:xfrm>
            <a:off x="3840480" y="5486400"/>
            <a:ext cx="4389120" cy="777240"/>
          </a:xfrm>
          <a:prstGeom prst="rect">
            <a:avLst/>
          </a:prstGeom>
          <a:noFill/>
          <a:ln/>
        </p:spPr>
        <p:txBody>
          <a:bodyPr wrap="square" lIns="0" tIns="0" rIns="0" bIns="0" rtlCol="0" anchor="ctr"/>
          <a:lstStyle/>
          <a:p>
            <a:pPr indent="0" marL="0">
              <a:buNone/>
            </a:pPr>
            <a:r>
              <a:rPr lang="en-US" sz="2400" dirty="0">
                <a:solidFill>
                  <a:srgbClr val="000000"/>
                </a:solidFill>
                <a:latin typeface="Times New Roman" pitchFamily="34" charset="0"/>
                <a:ea typeface="Times New Roman" pitchFamily="34" charset="-122"/>
                <a:cs typeface="Times New Roman" pitchFamily="34" charset="-120"/>
              </a:rPr>
              <a:t>Visual Studio Code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Dark card"/>
          <p:cNvSpPr/>
          <p:nvPr/>
        </p:nvSpPr>
        <p:spPr>
          <a:xfrm>
            <a:off x="316800" y="1275069"/>
            <a:ext cx="8510400" cy="4898571"/>
          </a:xfrm>
          <a:prstGeom prst="rect">
            <a:avLst/>
          </a:prstGeom>
          <a:solidFill>
            <a:srgbClr val="1B1F24"/>
          </a:solidFill>
          <a:ln w="12700">
            <a:solidFill>
              <a:srgbClr val="1B1F24"/>
            </a:solidFill>
            <a:prstDash val="solid"/>
          </a:ln>
        </p:spPr>
        <p:txBody>
          <a:bodyPr/>
          <a:p/>
        </p:txBody>
      </p:sp>
      <p:sp>
        <p:nvSpPr>
          <p:cNvPr id="3" name="Text 1"/>
          <p:cNvSpPr txBox="1"/>
          <p:nvPr/>
        </p:nvSpPr>
        <p:spPr>
          <a:xfrm>
            <a:off x="685800" y="1463040"/>
            <a:ext cx="5486400" cy="274320"/>
          </a:xfrm>
          <a:prstGeom prst="rect">
            <a:avLst/>
          </a:prstGeom>
          <a:noFill/>
          <a:ln/>
        </p:spPr>
        <p:txBody>
          <a:bodyPr wrap="square" lIns="0" tIns="0" rIns="0" bIns="0" rtlCol="0" anchor="ctr"/>
          <a:lstStyle/>
          <a:p>
            <a:pPr indent="0" marL="0">
              <a:buNone/>
            </a:pPr>
            <a:r>
              <a:rPr lang="en-US" sz="1200" b="1" spc="200" kern="0" dirty="0">
                <a:solidFill>
                  <a:srgbClr val="F4C430"/>
                </a:solidFill>
                <a:latin typeface="Arial" pitchFamily="34" charset="0"/>
                <a:ea typeface="Arial" pitchFamily="34" charset="-122"/>
                <a:cs typeface="Arial" pitchFamily="34" charset="-120"/>
              </a:rPr>
              <a:t>WORKING PRINCIPLE</a:t>
            </a:r>
            <a:endParaRPr lang="en-US" sz="1200" dirty="0"/>
          </a:p>
        </p:txBody>
      </p:sp>
      <p:sp>
        <p:nvSpPr>
          <p:cNvPr id="4" name="Text 2"/>
          <p:cNvSpPr txBox="1"/>
          <p:nvPr/>
        </p:nvSpPr>
        <p:spPr>
          <a:xfrm>
            <a:off x="685800" y="178308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How the Log Analysis Flow Works</a:t>
            </a:r>
            <a:endParaRPr lang="en-US" sz="2800" dirty="0"/>
          </a:p>
        </p:txBody>
      </p:sp>
      <p:sp>
        <p:nvSpPr>
          <p:cNvPr id="5" name="Step card 1"/>
          <p:cNvSpPr/>
          <p:nvPr/>
        </p:nvSpPr>
        <p:spPr>
          <a:xfrm>
            <a:off x="548640" y="2880360"/>
            <a:ext cx="1444752" cy="2743200"/>
          </a:xfrm>
          <a:prstGeom prst="roundRect">
            <a:avLst>
              <a:gd name="adj" fmla="val 5063"/>
            </a:avLst>
          </a:prstGeom>
          <a:solidFill>
            <a:srgbClr val="262B38"/>
          </a:solidFill>
          <a:ln w="12700">
            <a:solidFill>
              <a:srgbClr val="262B38"/>
            </a:solidFill>
            <a:prstDash val="solid"/>
          </a:ln>
        </p:spPr>
        <p:txBody>
          <a:bodyPr/>
          <a:p/>
        </p:txBody>
      </p:sp>
      <p:sp>
        <p:nvSpPr>
          <p:cNvPr id="6" name="Shape 4"/>
          <p:cNvSpPr/>
          <p:nvPr/>
        </p:nvSpPr>
        <p:spPr>
          <a:xfrm>
            <a:off x="685800" y="3063240"/>
            <a:ext cx="457200" cy="457200"/>
          </a:xfrm>
          <a:prstGeom prst="ellipse">
            <a:avLst/>
          </a:prstGeom>
          <a:solidFill>
            <a:srgbClr val="FF7A1F"/>
          </a:solidFill>
          <a:ln w="12700">
            <a:solidFill>
              <a:srgbClr val="FF7A1F"/>
            </a:solidFill>
            <a:prstDash val="solid"/>
          </a:ln>
        </p:spPr>
        <p:txBody>
          <a:bodyPr/>
          <a:p/>
        </p:txBody>
      </p:sp>
      <p:sp>
        <p:nvSpPr>
          <p:cNvPr id="7" name="Text 5"/>
          <p:cNvSpPr txBox="1"/>
          <p:nvPr/>
        </p:nvSpPr>
        <p:spPr>
          <a:xfrm>
            <a:off x="685800" y="3063240"/>
            <a:ext cx="457200" cy="457200"/>
          </a:xfrm>
          <a:prstGeom prst="rect">
            <a:avLst/>
          </a:prstGeom>
          <a:noFill/>
          <a:ln/>
        </p:spPr>
        <p:txBody>
          <a:bodyPr wrap="square" lIns="0" tIns="0" rIns="0" bIns="0" rtlCol="0" anchor="ctr"/>
          <a:lstStyle/>
          <a:p>
            <a:pPr algn="ctr" indent="0" marL="0">
              <a:buNone/>
            </a:pPr>
            <a:r>
              <a:rPr lang="en-US" sz="1600" b="1" dirty="0">
                <a:solidFill>
                  <a:srgbClr val="1B1F24"/>
                </a:solidFill>
                <a:latin typeface="Georgia" pitchFamily="34" charset="0"/>
                <a:ea typeface="Georgia" pitchFamily="34" charset="-122"/>
                <a:cs typeface="Georgia" pitchFamily="34" charset="-120"/>
              </a:rPr>
              <a:t>1</a:t>
            </a:r>
            <a:endParaRPr lang="en-US" sz="1600" dirty="0"/>
          </a:p>
        </p:txBody>
      </p:sp>
      <p:sp>
        <p:nvSpPr>
          <p:cNvPr id="8" name="Text 6"/>
          <p:cNvSpPr txBox="1"/>
          <p:nvPr/>
        </p:nvSpPr>
        <p:spPr>
          <a:xfrm>
            <a:off x="658368" y="3703320"/>
            <a:ext cx="1261872"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Upload</a:t>
            </a:r>
            <a:endParaRPr lang="en-US" sz="1400" dirty="0"/>
          </a:p>
        </p:txBody>
      </p:sp>
      <p:sp>
        <p:nvSpPr>
          <p:cNvPr id="9" name="Text 7"/>
          <p:cNvSpPr txBox="1"/>
          <p:nvPr/>
        </p:nvSpPr>
        <p:spPr>
          <a:xfrm>
            <a:off x="658368" y="4206240"/>
            <a:ext cx="1243584" cy="1280160"/>
          </a:xfrm>
          <a:prstGeom prst="rect">
            <a:avLst/>
          </a:prstGeom>
          <a:noFill/>
          <a:ln/>
        </p:spPr>
        <p:txBody>
          <a:bodyPr wrap="square" lIns="0" tIns="0" rIns="0" bIns="0" rtlCol="0" anchor="t"/>
          <a:lstStyle/>
          <a:p>
            <a:pPr indent="0" marL="0">
              <a:buNone/>
            </a:pPr>
            <a:r>
              <a:rPr lang="en-US" sz="1200" dirty="0">
                <a:solidFill>
                  <a:srgbClr val="B4BAC6"/>
                </a:solidFill>
                <a:latin typeface="Arial" pitchFamily="34" charset="0"/>
                <a:ea typeface="Arial" pitchFamily="34" charset="-122"/>
                <a:cs typeface="Arial" pitchFamily="34" charset="-120"/>
              </a:rPr>
              <a:t>Log files or a live log stream</a:t>
            </a:r>
            <a:endParaRPr lang="en-US" sz="1200" dirty="0"/>
          </a:p>
        </p:txBody>
      </p:sp>
      <p:sp>
        <p:nvSpPr>
          <p:cNvPr id="10" name="Text 8"/>
          <p:cNvSpPr txBox="1"/>
          <p:nvPr/>
        </p:nvSpPr>
        <p:spPr>
          <a:xfrm>
            <a:off x="1975104" y="4069080"/>
            <a:ext cx="219456" cy="365760"/>
          </a:xfrm>
          <a:prstGeom prst="rect">
            <a:avLst/>
          </a:prstGeom>
          <a:noFill/>
          <a:ln/>
        </p:spPr>
        <p:txBody>
          <a:bodyPr wrap="square" lIns="0" tIns="0" rIns="0" bIns="0" rtlCol="0" anchor="ctr"/>
          <a:lstStyle/>
          <a:p>
            <a:pPr algn="ctr" indent="0" marL="0">
              <a:buNone/>
            </a:pPr>
            <a:r>
              <a:rPr lang="en-US" sz="1400" dirty="0">
                <a:solidFill>
                  <a:srgbClr val="F4C430"/>
                </a:solidFill>
                <a:latin typeface="Arial" pitchFamily="34" charset="0"/>
                <a:ea typeface="Arial" pitchFamily="34" charset="-122"/>
                <a:cs typeface="Arial" pitchFamily="34" charset="-120"/>
              </a:rPr>
              <a:t>➜</a:t>
            </a:r>
            <a:endParaRPr lang="en-US" sz="1400" dirty="0"/>
          </a:p>
        </p:txBody>
      </p:sp>
      <p:sp>
        <p:nvSpPr>
          <p:cNvPr id="11" name="Step card 2"/>
          <p:cNvSpPr/>
          <p:nvPr/>
        </p:nvSpPr>
        <p:spPr>
          <a:xfrm>
            <a:off x="2176272" y="2880360"/>
            <a:ext cx="1444752" cy="2743200"/>
          </a:xfrm>
          <a:prstGeom prst="roundRect">
            <a:avLst>
              <a:gd name="adj" fmla="val 5063"/>
            </a:avLst>
          </a:prstGeom>
          <a:solidFill>
            <a:srgbClr val="262B38"/>
          </a:solidFill>
          <a:ln w="12700">
            <a:solidFill>
              <a:srgbClr val="262B38"/>
            </a:solidFill>
            <a:prstDash val="solid"/>
          </a:ln>
        </p:spPr>
        <p:txBody>
          <a:bodyPr/>
          <a:p/>
        </p:txBody>
      </p:sp>
      <p:sp>
        <p:nvSpPr>
          <p:cNvPr id="12" name="Shape 10"/>
          <p:cNvSpPr/>
          <p:nvPr/>
        </p:nvSpPr>
        <p:spPr>
          <a:xfrm>
            <a:off x="2313432" y="3063240"/>
            <a:ext cx="457200" cy="457200"/>
          </a:xfrm>
          <a:prstGeom prst="ellipse">
            <a:avLst/>
          </a:prstGeom>
          <a:solidFill>
            <a:srgbClr val="FF7A1F"/>
          </a:solidFill>
          <a:ln w="12700">
            <a:solidFill>
              <a:srgbClr val="FF7A1F"/>
            </a:solidFill>
            <a:prstDash val="solid"/>
          </a:ln>
        </p:spPr>
        <p:txBody>
          <a:bodyPr/>
          <a:p/>
        </p:txBody>
      </p:sp>
      <p:sp>
        <p:nvSpPr>
          <p:cNvPr id="13" name="Text 11"/>
          <p:cNvSpPr txBox="1"/>
          <p:nvPr/>
        </p:nvSpPr>
        <p:spPr>
          <a:xfrm>
            <a:off x="2313432" y="3063240"/>
            <a:ext cx="457200" cy="457200"/>
          </a:xfrm>
          <a:prstGeom prst="rect">
            <a:avLst/>
          </a:prstGeom>
          <a:noFill/>
          <a:ln/>
        </p:spPr>
        <p:txBody>
          <a:bodyPr wrap="square" lIns="0" tIns="0" rIns="0" bIns="0" rtlCol="0" anchor="ctr"/>
          <a:lstStyle/>
          <a:p>
            <a:pPr algn="ctr" indent="0" marL="0">
              <a:buNone/>
            </a:pPr>
            <a:r>
              <a:rPr lang="en-US" sz="1600" b="1" dirty="0">
                <a:solidFill>
                  <a:srgbClr val="1B1F24"/>
                </a:solidFill>
                <a:latin typeface="Georgia" pitchFamily="34" charset="0"/>
                <a:ea typeface="Georgia" pitchFamily="34" charset="-122"/>
                <a:cs typeface="Georgia" pitchFamily="34" charset="-120"/>
              </a:rPr>
              <a:t>2</a:t>
            </a:r>
            <a:endParaRPr lang="en-US" sz="1600" dirty="0"/>
          </a:p>
        </p:txBody>
      </p:sp>
      <p:sp>
        <p:nvSpPr>
          <p:cNvPr id="14" name="Text 12"/>
          <p:cNvSpPr txBox="1"/>
          <p:nvPr/>
        </p:nvSpPr>
        <p:spPr>
          <a:xfrm>
            <a:off x="2286000" y="3703320"/>
            <a:ext cx="1261872"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Redact</a:t>
            </a:r>
            <a:endParaRPr lang="en-US" sz="1400" dirty="0"/>
          </a:p>
        </p:txBody>
      </p:sp>
      <p:sp>
        <p:nvSpPr>
          <p:cNvPr id="15" name="Text 13"/>
          <p:cNvSpPr txBox="1"/>
          <p:nvPr/>
        </p:nvSpPr>
        <p:spPr>
          <a:xfrm>
            <a:off x="2286000" y="4206240"/>
            <a:ext cx="1243584" cy="1280160"/>
          </a:xfrm>
          <a:prstGeom prst="rect">
            <a:avLst/>
          </a:prstGeom>
          <a:noFill/>
          <a:ln/>
        </p:spPr>
        <p:txBody>
          <a:bodyPr wrap="square" lIns="0" tIns="0" rIns="0" bIns="0" rtlCol="0" anchor="t"/>
          <a:lstStyle/>
          <a:p>
            <a:pPr indent="0" marL="0">
              <a:buNone/>
            </a:pPr>
            <a:r>
              <a:rPr lang="en-US" sz="1200" dirty="0">
                <a:solidFill>
                  <a:srgbClr val="B4BAC6"/>
                </a:solidFill>
                <a:latin typeface="Arial" pitchFamily="34" charset="0"/>
                <a:ea typeface="Arial" pitchFamily="34" charset="-122"/>
                <a:cs typeface="Arial" pitchFamily="34" charset="-120"/>
              </a:rPr>
              <a:t>Passwords, keys and personal data masked</a:t>
            </a:r>
            <a:endParaRPr lang="en-US" sz="1200" dirty="0"/>
          </a:p>
        </p:txBody>
      </p:sp>
      <p:sp>
        <p:nvSpPr>
          <p:cNvPr id="16" name="Text 14"/>
          <p:cNvSpPr txBox="1"/>
          <p:nvPr/>
        </p:nvSpPr>
        <p:spPr>
          <a:xfrm>
            <a:off x="3602736" y="4069080"/>
            <a:ext cx="219456" cy="365760"/>
          </a:xfrm>
          <a:prstGeom prst="rect">
            <a:avLst/>
          </a:prstGeom>
          <a:noFill/>
          <a:ln/>
        </p:spPr>
        <p:txBody>
          <a:bodyPr wrap="square" lIns="0" tIns="0" rIns="0" bIns="0" rtlCol="0" anchor="ctr"/>
          <a:lstStyle/>
          <a:p>
            <a:pPr algn="ctr" indent="0" marL="0">
              <a:buNone/>
            </a:pPr>
            <a:r>
              <a:rPr lang="en-US" sz="1400" dirty="0">
                <a:solidFill>
                  <a:srgbClr val="F4C430"/>
                </a:solidFill>
                <a:latin typeface="Arial" pitchFamily="34" charset="0"/>
                <a:ea typeface="Arial" pitchFamily="34" charset="-122"/>
                <a:cs typeface="Arial" pitchFamily="34" charset="-120"/>
              </a:rPr>
              <a:t>➜</a:t>
            </a:r>
            <a:endParaRPr lang="en-US" sz="1400" dirty="0"/>
          </a:p>
        </p:txBody>
      </p:sp>
      <p:sp>
        <p:nvSpPr>
          <p:cNvPr id="17" name="Step card 3"/>
          <p:cNvSpPr/>
          <p:nvPr/>
        </p:nvSpPr>
        <p:spPr>
          <a:xfrm>
            <a:off x="3803904" y="2880360"/>
            <a:ext cx="1444752" cy="2743200"/>
          </a:xfrm>
          <a:prstGeom prst="roundRect">
            <a:avLst>
              <a:gd name="adj" fmla="val 5063"/>
            </a:avLst>
          </a:prstGeom>
          <a:solidFill>
            <a:srgbClr val="262B38"/>
          </a:solidFill>
          <a:ln w="12700">
            <a:solidFill>
              <a:srgbClr val="262B38"/>
            </a:solidFill>
            <a:prstDash val="solid"/>
          </a:ln>
        </p:spPr>
        <p:txBody>
          <a:bodyPr/>
          <a:p/>
        </p:txBody>
      </p:sp>
      <p:sp>
        <p:nvSpPr>
          <p:cNvPr id="18" name="Shape 16"/>
          <p:cNvSpPr/>
          <p:nvPr/>
        </p:nvSpPr>
        <p:spPr>
          <a:xfrm>
            <a:off x="3941064" y="3063240"/>
            <a:ext cx="457200" cy="457200"/>
          </a:xfrm>
          <a:prstGeom prst="ellipse">
            <a:avLst/>
          </a:prstGeom>
          <a:solidFill>
            <a:srgbClr val="FF7A1F"/>
          </a:solidFill>
          <a:ln w="12700">
            <a:solidFill>
              <a:srgbClr val="FF7A1F"/>
            </a:solidFill>
            <a:prstDash val="solid"/>
          </a:ln>
        </p:spPr>
        <p:txBody>
          <a:bodyPr/>
          <a:p/>
        </p:txBody>
      </p:sp>
      <p:sp>
        <p:nvSpPr>
          <p:cNvPr id="19" name="Text 17"/>
          <p:cNvSpPr txBox="1"/>
          <p:nvPr/>
        </p:nvSpPr>
        <p:spPr>
          <a:xfrm>
            <a:off x="3941064" y="3063240"/>
            <a:ext cx="457200" cy="457200"/>
          </a:xfrm>
          <a:prstGeom prst="rect">
            <a:avLst/>
          </a:prstGeom>
          <a:noFill/>
          <a:ln/>
        </p:spPr>
        <p:txBody>
          <a:bodyPr wrap="square" lIns="0" tIns="0" rIns="0" bIns="0" rtlCol="0" anchor="ctr"/>
          <a:lstStyle/>
          <a:p>
            <a:pPr algn="ctr" indent="0" marL="0">
              <a:buNone/>
            </a:pPr>
            <a:r>
              <a:rPr lang="en-US" sz="1600" b="1" dirty="0">
                <a:solidFill>
                  <a:srgbClr val="1B1F24"/>
                </a:solidFill>
                <a:latin typeface="Georgia" pitchFamily="34" charset="0"/>
                <a:ea typeface="Georgia" pitchFamily="34" charset="-122"/>
                <a:cs typeface="Georgia" pitchFamily="34" charset="-120"/>
              </a:rPr>
              <a:t>3</a:t>
            </a:r>
            <a:endParaRPr lang="en-US" sz="1600" dirty="0"/>
          </a:p>
        </p:txBody>
      </p:sp>
      <p:sp>
        <p:nvSpPr>
          <p:cNvPr id="20" name="Text 18"/>
          <p:cNvSpPr txBox="1"/>
          <p:nvPr/>
        </p:nvSpPr>
        <p:spPr>
          <a:xfrm>
            <a:off x="3913632" y="3703320"/>
            <a:ext cx="1261872"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Gemini NLP</a:t>
            </a:r>
            <a:endParaRPr lang="en-US" sz="1400" dirty="0"/>
          </a:p>
        </p:txBody>
      </p:sp>
      <p:sp>
        <p:nvSpPr>
          <p:cNvPr id="21" name="Text 19"/>
          <p:cNvSpPr txBox="1"/>
          <p:nvPr/>
        </p:nvSpPr>
        <p:spPr>
          <a:xfrm>
            <a:off x="3913632" y="4206240"/>
            <a:ext cx="1243584" cy="1280160"/>
          </a:xfrm>
          <a:prstGeom prst="rect">
            <a:avLst/>
          </a:prstGeom>
          <a:noFill/>
          <a:ln/>
        </p:spPr>
        <p:txBody>
          <a:bodyPr wrap="square" lIns="0" tIns="0" rIns="0" bIns="0" rtlCol="0" anchor="t"/>
          <a:lstStyle/>
          <a:p>
            <a:pPr indent="0" marL="0">
              <a:buNone/>
            </a:pPr>
            <a:r>
              <a:rPr lang="en-US" sz="1200" dirty="0">
                <a:solidFill>
                  <a:srgbClr val="B4BAC6"/>
                </a:solidFill>
                <a:latin typeface="Arial" pitchFamily="34" charset="0"/>
                <a:ea typeface="Arial" pitchFamily="34" charset="-122"/>
                <a:cs typeface="Arial" pitchFamily="34" charset="-120"/>
              </a:rPr>
              <a:t>Finds, categorises and prioritises bugs</a:t>
            </a:r>
            <a:endParaRPr lang="en-US" sz="1200" dirty="0"/>
          </a:p>
        </p:txBody>
      </p:sp>
      <p:sp>
        <p:nvSpPr>
          <p:cNvPr id="22" name="Text 20"/>
          <p:cNvSpPr txBox="1"/>
          <p:nvPr/>
        </p:nvSpPr>
        <p:spPr>
          <a:xfrm>
            <a:off x="5230368" y="4069080"/>
            <a:ext cx="219456" cy="365760"/>
          </a:xfrm>
          <a:prstGeom prst="rect">
            <a:avLst/>
          </a:prstGeom>
          <a:noFill/>
          <a:ln/>
        </p:spPr>
        <p:txBody>
          <a:bodyPr wrap="square" lIns="0" tIns="0" rIns="0" bIns="0" rtlCol="0" anchor="ctr"/>
          <a:lstStyle/>
          <a:p>
            <a:pPr algn="ctr" indent="0" marL="0">
              <a:buNone/>
            </a:pPr>
            <a:r>
              <a:rPr lang="en-US" sz="1400" dirty="0">
                <a:solidFill>
                  <a:srgbClr val="F4C430"/>
                </a:solidFill>
                <a:latin typeface="Arial" pitchFamily="34" charset="0"/>
                <a:ea typeface="Arial" pitchFamily="34" charset="-122"/>
                <a:cs typeface="Arial" pitchFamily="34" charset="-120"/>
              </a:rPr>
              <a:t>➜</a:t>
            </a:r>
            <a:endParaRPr lang="en-US" sz="1400" dirty="0"/>
          </a:p>
        </p:txBody>
      </p:sp>
      <p:sp>
        <p:nvSpPr>
          <p:cNvPr id="23" name="Step card 4"/>
          <p:cNvSpPr/>
          <p:nvPr/>
        </p:nvSpPr>
        <p:spPr>
          <a:xfrm>
            <a:off x="5431536" y="2880360"/>
            <a:ext cx="1444752" cy="2743200"/>
          </a:xfrm>
          <a:prstGeom prst="roundRect">
            <a:avLst>
              <a:gd name="adj" fmla="val 5063"/>
            </a:avLst>
          </a:prstGeom>
          <a:solidFill>
            <a:srgbClr val="262B38"/>
          </a:solidFill>
          <a:ln w="12700">
            <a:solidFill>
              <a:srgbClr val="262B38"/>
            </a:solidFill>
            <a:prstDash val="solid"/>
          </a:ln>
        </p:spPr>
        <p:txBody>
          <a:bodyPr/>
          <a:p/>
        </p:txBody>
      </p:sp>
      <p:sp>
        <p:nvSpPr>
          <p:cNvPr id="24" name="Shape 22"/>
          <p:cNvSpPr/>
          <p:nvPr/>
        </p:nvSpPr>
        <p:spPr>
          <a:xfrm>
            <a:off x="5568696" y="3063240"/>
            <a:ext cx="457200" cy="457200"/>
          </a:xfrm>
          <a:prstGeom prst="ellipse">
            <a:avLst/>
          </a:prstGeom>
          <a:solidFill>
            <a:srgbClr val="FF7A1F"/>
          </a:solidFill>
          <a:ln w="12700">
            <a:solidFill>
              <a:srgbClr val="FF7A1F"/>
            </a:solidFill>
            <a:prstDash val="solid"/>
          </a:ln>
        </p:spPr>
        <p:txBody>
          <a:bodyPr/>
          <a:p/>
        </p:txBody>
      </p:sp>
      <p:sp>
        <p:nvSpPr>
          <p:cNvPr id="25" name="Text 23"/>
          <p:cNvSpPr txBox="1"/>
          <p:nvPr/>
        </p:nvSpPr>
        <p:spPr>
          <a:xfrm>
            <a:off x="5568696" y="3063240"/>
            <a:ext cx="457200" cy="457200"/>
          </a:xfrm>
          <a:prstGeom prst="rect">
            <a:avLst/>
          </a:prstGeom>
          <a:noFill/>
          <a:ln/>
        </p:spPr>
        <p:txBody>
          <a:bodyPr wrap="square" lIns="0" tIns="0" rIns="0" bIns="0" rtlCol="0" anchor="ctr"/>
          <a:lstStyle/>
          <a:p>
            <a:pPr algn="ctr" indent="0" marL="0">
              <a:buNone/>
            </a:pPr>
            <a:r>
              <a:rPr lang="en-US" sz="1600" b="1" dirty="0">
                <a:solidFill>
                  <a:srgbClr val="1B1F24"/>
                </a:solidFill>
                <a:latin typeface="Georgia" pitchFamily="34" charset="0"/>
                <a:ea typeface="Georgia" pitchFamily="34" charset="-122"/>
                <a:cs typeface="Georgia" pitchFamily="34" charset="-120"/>
              </a:rPr>
              <a:t>4</a:t>
            </a:r>
            <a:endParaRPr lang="en-US" sz="1600" dirty="0"/>
          </a:p>
        </p:txBody>
      </p:sp>
      <p:sp>
        <p:nvSpPr>
          <p:cNvPr id="26" name="Text 24"/>
          <p:cNvSpPr txBox="1"/>
          <p:nvPr/>
        </p:nvSpPr>
        <p:spPr>
          <a:xfrm>
            <a:off x="5541264" y="3703320"/>
            <a:ext cx="1261872"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Deduplicate</a:t>
            </a:r>
            <a:endParaRPr lang="en-US" sz="1400" dirty="0"/>
          </a:p>
        </p:txBody>
      </p:sp>
      <p:sp>
        <p:nvSpPr>
          <p:cNvPr id="27" name="Text 25"/>
          <p:cNvSpPr txBox="1"/>
          <p:nvPr/>
        </p:nvSpPr>
        <p:spPr>
          <a:xfrm>
            <a:off x="5541264" y="4206240"/>
            <a:ext cx="1243584" cy="1280160"/>
          </a:xfrm>
          <a:prstGeom prst="rect">
            <a:avLst/>
          </a:prstGeom>
          <a:noFill/>
          <a:ln/>
        </p:spPr>
        <p:txBody>
          <a:bodyPr wrap="square" lIns="0" tIns="0" rIns="0" bIns="0" rtlCol="0" anchor="t"/>
          <a:lstStyle/>
          <a:p>
            <a:pPr indent="0" marL="0">
              <a:buNone/>
            </a:pPr>
            <a:r>
              <a:rPr lang="en-US" sz="1200" dirty="0">
                <a:solidFill>
                  <a:srgbClr val="B4BAC6"/>
                </a:solidFill>
                <a:latin typeface="Arial" pitchFamily="34" charset="0"/>
                <a:ea typeface="Arial" pitchFamily="34" charset="-122"/>
                <a:cs typeface="Arial" pitchFamily="34" charset="-120"/>
              </a:rPr>
              <a:t>Repeated errors grouped and counted</a:t>
            </a:r>
            <a:endParaRPr lang="en-US" sz="1200" dirty="0"/>
          </a:p>
        </p:txBody>
      </p:sp>
      <p:sp>
        <p:nvSpPr>
          <p:cNvPr id="28" name="Text 26"/>
          <p:cNvSpPr txBox="1"/>
          <p:nvPr/>
        </p:nvSpPr>
        <p:spPr>
          <a:xfrm>
            <a:off x="6858000" y="4069080"/>
            <a:ext cx="219456" cy="365760"/>
          </a:xfrm>
          <a:prstGeom prst="rect">
            <a:avLst/>
          </a:prstGeom>
          <a:noFill/>
          <a:ln/>
        </p:spPr>
        <p:txBody>
          <a:bodyPr wrap="square" lIns="0" tIns="0" rIns="0" bIns="0" rtlCol="0" anchor="ctr"/>
          <a:lstStyle/>
          <a:p>
            <a:pPr algn="ctr" indent="0" marL="0">
              <a:buNone/>
            </a:pPr>
            <a:r>
              <a:rPr lang="en-US" sz="1400" dirty="0">
                <a:solidFill>
                  <a:srgbClr val="F4C430"/>
                </a:solidFill>
                <a:latin typeface="Arial" pitchFamily="34" charset="0"/>
                <a:ea typeface="Arial" pitchFamily="34" charset="-122"/>
                <a:cs typeface="Arial" pitchFamily="34" charset="-120"/>
              </a:rPr>
              <a:t>➜</a:t>
            </a:r>
            <a:endParaRPr lang="en-US" sz="1400" dirty="0"/>
          </a:p>
        </p:txBody>
      </p:sp>
      <p:sp>
        <p:nvSpPr>
          <p:cNvPr id="29" name="Step card 5"/>
          <p:cNvSpPr/>
          <p:nvPr/>
        </p:nvSpPr>
        <p:spPr>
          <a:xfrm>
            <a:off x="7059168" y="2880360"/>
            <a:ext cx="1444752" cy="2743200"/>
          </a:xfrm>
          <a:prstGeom prst="roundRect">
            <a:avLst>
              <a:gd name="adj" fmla="val 5063"/>
            </a:avLst>
          </a:prstGeom>
          <a:solidFill>
            <a:srgbClr val="262B38"/>
          </a:solidFill>
          <a:ln w="12700">
            <a:solidFill>
              <a:srgbClr val="262B38"/>
            </a:solidFill>
            <a:prstDash val="solid"/>
          </a:ln>
        </p:spPr>
        <p:txBody>
          <a:bodyPr/>
          <a:p/>
        </p:txBody>
      </p:sp>
      <p:sp>
        <p:nvSpPr>
          <p:cNvPr id="30" name="Shape 28"/>
          <p:cNvSpPr/>
          <p:nvPr/>
        </p:nvSpPr>
        <p:spPr>
          <a:xfrm>
            <a:off x="7196328" y="3063240"/>
            <a:ext cx="457200" cy="457200"/>
          </a:xfrm>
          <a:prstGeom prst="ellipse">
            <a:avLst/>
          </a:prstGeom>
          <a:solidFill>
            <a:srgbClr val="FF7A1F"/>
          </a:solidFill>
          <a:ln w="12700">
            <a:solidFill>
              <a:srgbClr val="FF7A1F"/>
            </a:solidFill>
            <a:prstDash val="solid"/>
          </a:ln>
        </p:spPr>
        <p:txBody>
          <a:bodyPr/>
          <a:p/>
        </p:txBody>
      </p:sp>
      <p:sp>
        <p:nvSpPr>
          <p:cNvPr id="31" name="Text 29"/>
          <p:cNvSpPr txBox="1"/>
          <p:nvPr/>
        </p:nvSpPr>
        <p:spPr>
          <a:xfrm>
            <a:off x="7196328" y="3063240"/>
            <a:ext cx="457200" cy="457200"/>
          </a:xfrm>
          <a:prstGeom prst="rect">
            <a:avLst/>
          </a:prstGeom>
          <a:noFill/>
          <a:ln/>
        </p:spPr>
        <p:txBody>
          <a:bodyPr wrap="square" lIns="0" tIns="0" rIns="0" bIns="0" rtlCol="0" anchor="ctr"/>
          <a:lstStyle/>
          <a:p>
            <a:pPr algn="ctr" indent="0" marL="0">
              <a:buNone/>
            </a:pPr>
            <a:r>
              <a:rPr lang="en-US" sz="1600" b="1" dirty="0">
                <a:solidFill>
                  <a:srgbClr val="1B1F24"/>
                </a:solidFill>
                <a:latin typeface="Georgia" pitchFamily="34" charset="0"/>
                <a:ea typeface="Georgia" pitchFamily="34" charset="-122"/>
                <a:cs typeface="Georgia" pitchFamily="34" charset="-120"/>
              </a:rPr>
              <a:t>5</a:t>
            </a:r>
            <a:endParaRPr lang="en-US" sz="1600" dirty="0"/>
          </a:p>
        </p:txBody>
      </p:sp>
      <p:sp>
        <p:nvSpPr>
          <p:cNvPr id="32" name="Text 30"/>
          <p:cNvSpPr txBox="1"/>
          <p:nvPr/>
        </p:nvSpPr>
        <p:spPr>
          <a:xfrm>
            <a:off x="7168896" y="3703320"/>
            <a:ext cx="1261872"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Store &amp; Alert</a:t>
            </a:r>
            <a:endParaRPr lang="en-US" sz="1400" dirty="0"/>
          </a:p>
        </p:txBody>
      </p:sp>
      <p:sp>
        <p:nvSpPr>
          <p:cNvPr id="33" name="Text 31"/>
          <p:cNvSpPr txBox="1"/>
          <p:nvPr/>
        </p:nvSpPr>
        <p:spPr>
          <a:xfrm>
            <a:off x="7168896" y="4206240"/>
            <a:ext cx="1243584" cy="1280160"/>
          </a:xfrm>
          <a:prstGeom prst="rect">
            <a:avLst/>
          </a:prstGeom>
          <a:noFill/>
          <a:ln/>
        </p:spPr>
        <p:txBody>
          <a:bodyPr wrap="square" lIns="0" tIns="0" rIns="0" bIns="0" rtlCol="0" anchor="t"/>
          <a:lstStyle/>
          <a:p>
            <a:pPr indent="0" marL="0">
              <a:buNone/>
            </a:pPr>
            <a:r>
              <a:rPr lang="en-US" sz="1200" dirty="0">
                <a:solidFill>
                  <a:srgbClr val="B4BAC6"/>
                </a:solidFill>
                <a:latin typeface="Arial" pitchFamily="34" charset="0"/>
                <a:ea typeface="Arial" pitchFamily="34" charset="-122"/>
                <a:cs typeface="Arial" pitchFamily="34" charset="-120"/>
              </a:rPr>
              <a:t>Saved in database and sent to the team</a:t>
            </a:r>
            <a:endParaRPr lang="en-US" sz="1200" dirty="0"/>
          </a:p>
        </p:txBody>
      </p:sp>
      <p:sp>
        <p:nvSpPr>
          <p:cNvPr id="34" name="Text 32"/>
          <p:cNvSpPr txBox="1"/>
          <p:nvPr/>
        </p:nvSpPr>
        <p:spPr>
          <a:xfrm>
            <a:off x="685800" y="5760720"/>
            <a:ext cx="7680960" cy="411480"/>
          </a:xfrm>
          <a:prstGeom prst="rect">
            <a:avLst/>
          </a:prstGeom>
          <a:noFill/>
          <a:ln/>
        </p:spPr>
        <p:txBody>
          <a:bodyPr wrap="square" lIns="0" tIns="0" rIns="0" bIns="0" rtlCol="0" anchor="ctr"/>
          <a:lstStyle/>
          <a:p>
            <a:pPr indent="0" marL="0">
              <a:buNone/>
            </a:pPr>
            <a:r>
              <a:rPr lang="en-US" sz="1200" i="1" dirty="0">
                <a:solidFill>
                  <a:srgbClr val="B4BAC6"/>
                </a:solidFill>
                <a:latin typeface="Arial" pitchFamily="34" charset="0"/>
                <a:ea typeface="Arial" pitchFamily="34" charset="-122"/>
                <a:cs typeface="Arial" pitchFamily="34" charset="-120"/>
              </a:rPr>
              <a:t>A local Random Forest classifier (Scikit-learn) gives backup classification when the AI engine is unavailable.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365760" y="1188720"/>
            <a:ext cx="7315200" cy="640080"/>
          </a:xfrm>
          <a:prstGeom prst="rect">
            <a:avLst/>
          </a:prstGeom>
          <a:noFill/>
          <a:ln/>
        </p:spPr>
        <p:txBody>
          <a:bodyPr wrap="square" lIns="0" tIns="0" rIns="0" bIns="0" rtlCol="0" anchor="ctr"/>
          <a:lstStyle/>
          <a:p>
            <a:pPr indent="0" marL="0">
              <a:buNone/>
            </a:pPr>
            <a:r>
              <a:rPr lang="en-US" sz="3400" b="1" dirty="0">
                <a:solidFill>
                  <a:srgbClr val="000000"/>
                </a:solidFill>
                <a:latin typeface="Times New Roman" pitchFamily="34" charset="0"/>
                <a:ea typeface="Times New Roman" pitchFamily="34" charset="-122"/>
                <a:cs typeface="Times New Roman" pitchFamily="34" charset="-120"/>
              </a:rPr>
              <a:t>SYSTEM MODULES</a:t>
            </a:r>
            <a:endParaRPr lang="en-US" sz="3400" dirty="0"/>
          </a:p>
        </p:txBody>
      </p:sp>
      <p:sp>
        <p:nvSpPr>
          <p:cNvPr id="3" name="Module card 01"/>
          <p:cNvSpPr/>
          <p:nvPr/>
        </p:nvSpPr>
        <p:spPr>
          <a:xfrm>
            <a:off x="365760" y="2148840"/>
            <a:ext cx="2606040" cy="1691640"/>
          </a:xfrm>
          <a:prstGeom prst="roundRect">
            <a:avLst>
              <a:gd name="adj" fmla="val 4324"/>
            </a:avLst>
          </a:prstGeom>
          <a:solidFill>
            <a:srgbClr val="F0F0F4"/>
          </a:solidFill>
          <a:ln w="12700">
            <a:solidFill>
              <a:srgbClr val="E6E6EC"/>
            </a:solidFill>
            <a:prstDash val="solid"/>
          </a:ln>
        </p:spPr>
        <p:txBody>
          <a:bodyPr/>
          <a:p/>
        </p:txBody>
      </p:sp>
      <p:sp>
        <p:nvSpPr>
          <p:cNvPr id="4" name="Shape 2"/>
          <p:cNvSpPr/>
          <p:nvPr/>
        </p:nvSpPr>
        <p:spPr>
          <a:xfrm>
            <a:off x="548640" y="2331720"/>
            <a:ext cx="457200" cy="457200"/>
          </a:xfrm>
          <a:prstGeom prst="ellipse">
            <a:avLst/>
          </a:prstGeom>
          <a:solidFill>
            <a:srgbClr val="2EAF6A"/>
          </a:solidFill>
          <a:ln w="12700">
            <a:solidFill>
              <a:srgbClr val="2EAF6A"/>
            </a:solidFill>
            <a:prstDash val="solid"/>
          </a:ln>
        </p:spPr>
        <p:txBody>
          <a:bodyPr/>
          <a:p/>
        </p:txBody>
      </p:sp>
      <p:sp>
        <p:nvSpPr>
          <p:cNvPr id="5" name="Text 3"/>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6" name="Text 4"/>
          <p:cNvSpPr txBox="1"/>
          <p:nvPr/>
        </p:nvSpPr>
        <p:spPr>
          <a:xfrm>
            <a:off x="548640" y="2926080"/>
            <a:ext cx="2240280" cy="73152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Log Ingestion Module</a:t>
            </a:r>
            <a:endParaRPr lang="en-US" sz="1600" dirty="0"/>
          </a:p>
        </p:txBody>
      </p:sp>
      <p:sp>
        <p:nvSpPr>
          <p:cNvPr id="7" name="Module card 02"/>
          <p:cNvSpPr/>
          <p:nvPr/>
        </p:nvSpPr>
        <p:spPr>
          <a:xfrm>
            <a:off x="3200400" y="2148840"/>
            <a:ext cx="2606040" cy="1691640"/>
          </a:xfrm>
          <a:prstGeom prst="roundRect">
            <a:avLst>
              <a:gd name="adj" fmla="val 4324"/>
            </a:avLst>
          </a:prstGeom>
          <a:solidFill>
            <a:srgbClr val="F0F0F4"/>
          </a:solidFill>
          <a:ln w="12700">
            <a:solidFill>
              <a:srgbClr val="E6E6EC"/>
            </a:solidFill>
            <a:prstDash val="solid"/>
          </a:ln>
        </p:spPr>
        <p:txBody>
          <a:bodyPr/>
          <a:p/>
        </p:txBody>
      </p:sp>
      <p:sp>
        <p:nvSpPr>
          <p:cNvPr id="8" name="Shape 6"/>
          <p:cNvSpPr/>
          <p:nvPr/>
        </p:nvSpPr>
        <p:spPr>
          <a:xfrm>
            <a:off x="3383280" y="2331720"/>
            <a:ext cx="457200" cy="457200"/>
          </a:xfrm>
          <a:prstGeom prst="ellipse">
            <a:avLst/>
          </a:prstGeom>
          <a:solidFill>
            <a:srgbClr val="FF7A1F"/>
          </a:solidFill>
          <a:ln w="12700">
            <a:solidFill>
              <a:srgbClr val="FF7A1F"/>
            </a:solidFill>
            <a:prstDash val="solid"/>
          </a:ln>
        </p:spPr>
        <p:txBody>
          <a:bodyPr/>
          <a:p/>
        </p:txBody>
      </p:sp>
      <p:sp>
        <p:nvSpPr>
          <p:cNvPr id="9" name="Text 7"/>
          <p:cNvSpPr txBox="1"/>
          <p:nvPr/>
        </p:nvSpPr>
        <p:spPr>
          <a:xfrm>
            <a:off x="3383280" y="2331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0" name="Text 8"/>
          <p:cNvSpPr txBox="1"/>
          <p:nvPr/>
        </p:nvSpPr>
        <p:spPr>
          <a:xfrm>
            <a:off x="3383280" y="2926080"/>
            <a:ext cx="2240280" cy="73152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Data Redaction Module</a:t>
            </a:r>
            <a:endParaRPr lang="en-US" sz="1600" dirty="0"/>
          </a:p>
        </p:txBody>
      </p:sp>
      <p:sp>
        <p:nvSpPr>
          <p:cNvPr id="11" name="Module card 03"/>
          <p:cNvSpPr/>
          <p:nvPr/>
        </p:nvSpPr>
        <p:spPr>
          <a:xfrm>
            <a:off x="6035040" y="2148840"/>
            <a:ext cx="2606040" cy="1691640"/>
          </a:xfrm>
          <a:prstGeom prst="roundRect">
            <a:avLst>
              <a:gd name="adj" fmla="val 4324"/>
            </a:avLst>
          </a:prstGeom>
          <a:solidFill>
            <a:srgbClr val="F0F0F4"/>
          </a:solidFill>
          <a:ln w="12700">
            <a:solidFill>
              <a:srgbClr val="E6E6EC"/>
            </a:solidFill>
            <a:prstDash val="solid"/>
          </a:ln>
        </p:spPr>
        <p:txBody>
          <a:bodyPr/>
          <a:p/>
        </p:txBody>
      </p:sp>
      <p:sp>
        <p:nvSpPr>
          <p:cNvPr id="12" name="Shape 10"/>
          <p:cNvSpPr/>
          <p:nvPr/>
        </p:nvSpPr>
        <p:spPr>
          <a:xfrm>
            <a:off x="6217920" y="2331720"/>
            <a:ext cx="457200" cy="457200"/>
          </a:xfrm>
          <a:prstGeom prst="ellipse">
            <a:avLst/>
          </a:prstGeom>
          <a:solidFill>
            <a:srgbClr val="F4C430"/>
          </a:solidFill>
          <a:ln w="12700">
            <a:solidFill>
              <a:srgbClr val="F4C430"/>
            </a:solidFill>
            <a:prstDash val="solid"/>
          </a:ln>
        </p:spPr>
        <p:txBody>
          <a:bodyPr/>
          <a:p/>
        </p:txBody>
      </p:sp>
      <p:sp>
        <p:nvSpPr>
          <p:cNvPr id="13" name="Text 11"/>
          <p:cNvSpPr txBox="1"/>
          <p:nvPr/>
        </p:nvSpPr>
        <p:spPr>
          <a:xfrm>
            <a:off x="6217920" y="2331720"/>
            <a:ext cx="457200" cy="457200"/>
          </a:xfrm>
          <a:prstGeom prst="rect">
            <a:avLst/>
          </a:prstGeom>
          <a:no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03</a:t>
            </a:r>
            <a:endParaRPr lang="en-US" sz="1400" dirty="0"/>
          </a:p>
        </p:txBody>
      </p:sp>
      <p:sp>
        <p:nvSpPr>
          <p:cNvPr id="14" name="Text 12"/>
          <p:cNvSpPr txBox="1"/>
          <p:nvPr/>
        </p:nvSpPr>
        <p:spPr>
          <a:xfrm>
            <a:off x="6217920" y="2926080"/>
            <a:ext cx="2240280" cy="73152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NLP Analysis Module</a:t>
            </a:r>
            <a:endParaRPr lang="en-US" sz="1600" dirty="0"/>
          </a:p>
        </p:txBody>
      </p:sp>
      <p:sp>
        <p:nvSpPr>
          <p:cNvPr id="15" name="Module card 04"/>
          <p:cNvSpPr/>
          <p:nvPr/>
        </p:nvSpPr>
        <p:spPr>
          <a:xfrm>
            <a:off x="365760" y="4114800"/>
            <a:ext cx="2606040" cy="1691640"/>
          </a:xfrm>
          <a:prstGeom prst="roundRect">
            <a:avLst>
              <a:gd name="adj" fmla="val 4324"/>
            </a:avLst>
          </a:prstGeom>
          <a:solidFill>
            <a:srgbClr val="F0F0F4"/>
          </a:solidFill>
          <a:ln w="12700">
            <a:solidFill>
              <a:srgbClr val="E6E6EC"/>
            </a:solidFill>
            <a:prstDash val="solid"/>
          </a:ln>
        </p:spPr>
        <p:txBody>
          <a:bodyPr/>
          <a:p/>
        </p:txBody>
      </p:sp>
      <p:sp>
        <p:nvSpPr>
          <p:cNvPr id="16" name="Shape 14"/>
          <p:cNvSpPr/>
          <p:nvPr/>
        </p:nvSpPr>
        <p:spPr>
          <a:xfrm>
            <a:off x="548640" y="4297680"/>
            <a:ext cx="457200" cy="457200"/>
          </a:xfrm>
          <a:prstGeom prst="ellipse">
            <a:avLst/>
          </a:prstGeom>
          <a:solidFill>
            <a:srgbClr val="2EAF6A"/>
          </a:solidFill>
          <a:ln w="12700">
            <a:solidFill>
              <a:srgbClr val="2EAF6A"/>
            </a:solidFill>
            <a:prstDash val="solid"/>
          </a:ln>
        </p:spPr>
        <p:txBody>
          <a:bodyPr/>
          <a:p/>
        </p:txBody>
      </p:sp>
      <p:sp>
        <p:nvSpPr>
          <p:cNvPr id="17" name="Text 15"/>
          <p:cNvSpPr txBox="1"/>
          <p:nvPr/>
        </p:nvSpPr>
        <p:spPr>
          <a:xfrm>
            <a:off x="548640" y="4297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18" name="Text 16"/>
          <p:cNvSpPr txBox="1"/>
          <p:nvPr/>
        </p:nvSpPr>
        <p:spPr>
          <a:xfrm>
            <a:off x="548640" y="4892040"/>
            <a:ext cx="2240280" cy="73152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Deduplication Module</a:t>
            </a:r>
            <a:endParaRPr lang="en-US" sz="1600" dirty="0"/>
          </a:p>
        </p:txBody>
      </p:sp>
      <p:sp>
        <p:nvSpPr>
          <p:cNvPr id="19" name="Module card 05"/>
          <p:cNvSpPr/>
          <p:nvPr/>
        </p:nvSpPr>
        <p:spPr>
          <a:xfrm>
            <a:off x="3200400" y="4114800"/>
            <a:ext cx="2606040" cy="1691640"/>
          </a:xfrm>
          <a:prstGeom prst="roundRect">
            <a:avLst>
              <a:gd name="adj" fmla="val 4324"/>
            </a:avLst>
          </a:prstGeom>
          <a:solidFill>
            <a:srgbClr val="F0F0F4"/>
          </a:solidFill>
          <a:ln w="12700">
            <a:solidFill>
              <a:srgbClr val="E6E6EC"/>
            </a:solidFill>
            <a:prstDash val="solid"/>
          </a:ln>
        </p:spPr>
        <p:txBody>
          <a:bodyPr/>
          <a:p/>
        </p:txBody>
      </p:sp>
      <p:sp>
        <p:nvSpPr>
          <p:cNvPr id="20" name="Shape 18"/>
          <p:cNvSpPr/>
          <p:nvPr/>
        </p:nvSpPr>
        <p:spPr>
          <a:xfrm>
            <a:off x="3383280" y="4297680"/>
            <a:ext cx="457200" cy="457200"/>
          </a:xfrm>
          <a:prstGeom prst="ellipse">
            <a:avLst/>
          </a:prstGeom>
          <a:solidFill>
            <a:srgbClr val="FF7A1F"/>
          </a:solidFill>
          <a:ln w="12700">
            <a:solidFill>
              <a:srgbClr val="FF7A1F"/>
            </a:solidFill>
            <a:prstDash val="solid"/>
          </a:ln>
        </p:spPr>
        <p:txBody>
          <a:bodyPr/>
          <a:p/>
        </p:txBody>
      </p:sp>
      <p:sp>
        <p:nvSpPr>
          <p:cNvPr id="21" name="Text 19"/>
          <p:cNvSpPr txBox="1"/>
          <p:nvPr/>
        </p:nvSpPr>
        <p:spPr>
          <a:xfrm>
            <a:off x="3383280" y="4297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05</a:t>
            </a:r>
            <a:endParaRPr lang="en-US" sz="1400" dirty="0"/>
          </a:p>
        </p:txBody>
      </p:sp>
      <p:sp>
        <p:nvSpPr>
          <p:cNvPr id="22" name="Text 20"/>
          <p:cNvSpPr txBox="1"/>
          <p:nvPr/>
        </p:nvSpPr>
        <p:spPr>
          <a:xfrm>
            <a:off x="3383280" y="4892040"/>
            <a:ext cx="2240280" cy="73152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Data Storage Module</a:t>
            </a:r>
            <a:endParaRPr lang="en-US" sz="1600" dirty="0"/>
          </a:p>
        </p:txBody>
      </p:sp>
      <p:sp>
        <p:nvSpPr>
          <p:cNvPr id="23" name="Module card 06"/>
          <p:cNvSpPr/>
          <p:nvPr/>
        </p:nvSpPr>
        <p:spPr>
          <a:xfrm>
            <a:off x="6035040" y="4114800"/>
            <a:ext cx="2606040" cy="1691640"/>
          </a:xfrm>
          <a:prstGeom prst="roundRect">
            <a:avLst>
              <a:gd name="adj" fmla="val 4324"/>
            </a:avLst>
          </a:prstGeom>
          <a:solidFill>
            <a:srgbClr val="F0F0F4"/>
          </a:solidFill>
          <a:ln w="12700">
            <a:solidFill>
              <a:srgbClr val="E6E6EC"/>
            </a:solidFill>
            <a:prstDash val="solid"/>
          </a:ln>
        </p:spPr>
        <p:txBody>
          <a:bodyPr/>
          <a:p/>
        </p:txBody>
      </p:sp>
      <p:sp>
        <p:nvSpPr>
          <p:cNvPr id="24" name="Shape 22"/>
          <p:cNvSpPr/>
          <p:nvPr/>
        </p:nvSpPr>
        <p:spPr>
          <a:xfrm>
            <a:off x="6217920" y="4297680"/>
            <a:ext cx="457200" cy="457200"/>
          </a:xfrm>
          <a:prstGeom prst="ellipse">
            <a:avLst/>
          </a:prstGeom>
          <a:solidFill>
            <a:srgbClr val="F4C430"/>
          </a:solidFill>
          <a:ln w="12700">
            <a:solidFill>
              <a:srgbClr val="F4C430"/>
            </a:solidFill>
            <a:prstDash val="solid"/>
          </a:ln>
        </p:spPr>
        <p:txBody>
          <a:bodyPr/>
          <a:p/>
        </p:txBody>
      </p:sp>
      <p:sp>
        <p:nvSpPr>
          <p:cNvPr id="25" name="Text 23"/>
          <p:cNvSpPr txBox="1"/>
          <p:nvPr/>
        </p:nvSpPr>
        <p:spPr>
          <a:xfrm>
            <a:off x="6217920" y="4297680"/>
            <a:ext cx="457200" cy="457200"/>
          </a:xfrm>
          <a:prstGeom prst="rect">
            <a:avLst/>
          </a:prstGeom>
          <a:no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06</a:t>
            </a:r>
            <a:endParaRPr lang="en-US" sz="1400" dirty="0"/>
          </a:p>
        </p:txBody>
      </p:sp>
      <p:sp>
        <p:nvSpPr>
          <p:cNvPr id="26" name="Text 24"/>
          <p:cNvSpPr txBox="1"/>
          <p:nvPr/>
        </p:nvSpPr>
        <p:spPr>
          <a:xfrm>
            <a:off x="6217920" y="4892040"/>
            <a:ext cx="2240280" cy="73152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Alert &amp; Integration Module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7"/>
          <p:cNvSpPr/>
          <p:nvPr>
            <p:ph idx="107" type="title" hasCustomPrompt="1"/>
          </p:nvPr>
        </p:nvSpPr>
        <p:spPr>
          <a:xfrm>
            <a:off x="457200" y="713232"/>
            <a:ext cx="8229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BUG CATEGORIES</a:t>
            </a:r>
            <a:endParaRPr lang="en-US" sz="4000" dirty="0"/>
          </a:p>
        </p:txBody>
      </p:sp>
      <p:sp>
        <p:nvSpPr>
          <p:cNvPr id="3" name="Grade row 0"/>
          <p:cNvSpPr/>
          <p:nvPr/>
        </p:nvSpPr>
        <p:spPr>
          <a:xfrm>
            <a:off x="548640" y="1737360"/>
            <a:ext cx="8046720" cy="731520"/>
          </a:xfrm>
          <a:prstGeom prst="roundRect">
            <a:avLst>
              <a:gd name="adj" fmla="val 10000"/>
            </a:avLst>
          </a:prstGeom>
          <a:solidFill>
            <a:srgbClr val="F0F0F4"/>
          </a:solidFill>
          <a:ln w="12700">
            <a:solidFill>
              <a:srgbClr val="E6E6EC"/>
            </a:solidFill>
            <a:prstDash val="solid"/>
          </a:ln>
        </p:spPr>
        <p:txBody>
          <a:bodyPr/>
          <a:p/>
        </p:txBody>
      </p:sp>
      <p:sp>
        <p:nvSpPr>
          <p:cNvPr id="4" name="Shape 2"/>
          <p:cNvSpPr/>
          <p:nvPr/>
        </p:nvSpPr>
        <p:spPr>
          <a:xfrm>
            <a:off x="731520" y="1874520"/>
            <a:ext cx="457200" cy="457200"/>
          </a:xfrm>
          <a:prstGeom prst="ellipse">
            <a:avLst/>
          </a:prstGeom>
          <a:solidFill>
            <a:srgbClr val="2EAF6A"/>
          </a:solidFill>
          <a:ln w="12700">
            <a:solidFill>
              <a:srgbClr val="2EAF6A"/>
            </a:solidFill>
            <a:prstDash val="solid"/>
          </a:ln>
        </p:spPr>
        <p:txBody>
          <a:bodyPr/>
          <a:p/>
        </p:txBody>
      </p:sp>
      <p:sp>
        <p:nvSpPr>
          <p:cNvPr id="5" name="Text 3"/>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417320" y="1737360"/>
            <a:ext cx="2377440" cy="73152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Application Bug</a:t>
            </a:r>
            <a:endParaRPr lang="en-US" sz="2000" dirty="0"/>
          </a:p>
        </p:txBody>
      </p:sp>
      <p:sp>
        <p:nvSpPr>
          <p:cNvPr id="7" name="Text 5"/>
          <p:cNvSpPr txBox="1"/>
          <p:nvPr/>
        </p:nvSpPr>
        <p:spPr>
          <a:xfrm>
            <a:off x="3840480" y="1737360"/>
            <a:ext cx="4572000" cy="731520"/>
          </a:xfrm>
          <a:prstGeom prst="rect">
            <a:avLst/>
          </a:prstGeom>
          <a:noFill/>
          <a:ln/>
        </p:spPr>
        <p:txBody>
          <a:bodyPr wrap="square" lIns="0" tIns="0" rIns="0" bIns="0" rtlCol="0" anchor="ctr"/>
          <a:lstStyle/>
          <a:p>
            <a:pPr indent="0" marL="0">
              <a:buNone/>
            </a:pPr>
            <a:r>
              <a:rPr lang="en-US" sz="1700" dirty="0">
                <a:solidFill>
                  <a:srgbClr val="333333"/>
                </a:solidFill>
                <a:latin typeface="Times New Roman" pitchFamily="34" charset="0"/>
                <a:ea typeface="Times New Roman" pitchFamily="34" charset="-122"/>
                <a:cs typeface="Times New Roman" pitchFamily="34" charset="-120"/>
              </a:rPr>
              <a:t>Code errors such as exceptions and crashes</a:t>
            </a:r>
            <a:endParaRPr lang="en-US" sz="1700" dirty="0"/>
          </a:p>
        </p:txBody>
      </p:sp>
      <p:sp>
        <p:nvSpPr>
          <p:cNvPr id="8" name="Grade row 1"/>
          <p:cNvSpPr/>
          <p:nvPr/>
        </p:nvSpPr>
        <p:spPr>
          <a:xfrm>
            <a:off x="548640" y="2624328"/>
            <a:ext cx="8046720" cy="731520"/>
          </a:xfrm>
          <a:prstGeom prst="roundRect">
            <a:avLst>
              <a:gd name="adj" fmla="val 10000"/>
            </a:avLst>
          </a:prstGeom>
          <a:solidFill>
            <a:srgbClr val="F0F0F4"/>
          </a:solidFill>
          <a:ln w="12700">
            <a:solidFill>
              <a:srgbClr val="E6E6EC"/>
            </a:solidFill>
            <a:prstDash val="solid"/>
          </a:ln>
        </p:spPr>
        <p:txBody>
          <a:bodyPr/>
          <a:p/>
        </p:txBody>
      </p:sp>
      <p:sp>
        <p:nvSpPr>
          <p:cNvPr id="9" name="Shape 7"/>
          <p:cNvSpPr/>
          <p:nvPr/>
        </p:nvSpPr>
        <p:spPr>
          <a:xfrm>
            <a:off x="731520" y="2761488"/>
            <a:ext cx="457200" cy="457200"/>
          </a:xfrm>
          <a:prstGeom prst="ellipse">
            <a:avLst/>
          </a:prstGeom>
          <a:solidFill>
            <a:srgbClr val="8DB63C"/>
          </a:solidFill>
          <a:ln w="12700">
            <a:solidFill>
              <a:srgbClr val="8DB63C"/>
            </a:solidFill>
            <a:prstDash val="solid"/>
          </a:ln>
        </p:spPr>
        <p:txBody>
          <a:bodyPr/>
          <a:p/>
        </p:txBody>
      </p:sp>
      <p:sp>
        <p:nvSpPr>
          <p:cNvPr id="10" name="Text 8"/>
          <p:cNvSpPr txBox="1"/>
          <p:nvPr/>
        </p:nvSpPr>
        <p:spPr>
          <a:xfrm>
            <a:off x="731520" y="2761488"/>
            <a:ext cx="457200" cy="457200"/>
          </a:xfrm>
          <a:prstGeom prst="rect">
            <a:avLst/>
          </a:prstGeom>
          <a:noFill/>
          <a:ln/>
        </p:spPr>
        <p:txBody>
          <a:bodyPr wrap="square" lIns="0" tIns="0" rIns="0" bIns="0" rtlCol="0" anchor="ctr"/>
          <a:lstStyle/>
          <a:p>
            <a:pPr algn="ctr" indent="0" marL="0">
              <a:buNone/>
            </a:pPr>
            <a:r>
              <a:rPr lang="en-US" sz="1600" b="1" dirty="0">
                <a:solidFill>
                  <a:srgbClr val="222222"/>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1417320" y="2624328"/>
            <a:ext cx="2377440" cy="73152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Performance Issue</a:t>
            </a:r>
            <a:endParaRPr lang="en-US" sz="2000" dirty="0"/>
          </a:p>
        </p:txBody>
      </p:sp>
      <p:sp>
        <p:nvSpPr>
          <p:cNvPr id="12" name="Text 10"/>
          <p:cNvSpPr txBox="1"/>
          <p:nvPr/>
        </p:nvSpPr>
        <p:spPr>
          <a:xfrm>
            <a:off x="3840480" y="2624328"/>
            <a:ext cx="4572000" cy="731520"/>
          </a:xfrm>
          <a:prstGeom prst="rect">
            <a:avLst/>
          </a:prstGeom>
          <a:noFill/>
          <a:ln/>
        </p:spPr>
        <p:txBody>
          <a:bodyPr wrap="square" lIns="0" tIns="0" rIns="0" bIns="0" rtlCol="0" anchor="ctr"/>
          <a:lstStyle/>
          <a:p>
            <a:pPr indent="0" marL="0">
              <a:buNone/>
            </a:pPr>
            <a:r>
              <a:rPr lang="en-US" sz="1700" dirty="0">
                <a:solidFill>
                  <a:srgbClr val="333333"/>
                </a:solidFill>
                <a:latin typeface="Times New Roman" pitchFamily="34" charset="0"/>
                <a:ea typeface="Times New Roman" pitchFamily="34" charset="-122"/>
                <a:cs typeface="Times New Roman" pitchFamily="34" charset="-120"/>
              </a:rPr>
              <a:t>Slow responses, timeouts and high memory</a:t>
            </a:r>
            <a:endParaRPr lang="en-US" sz="1700" dirty="0"/>
          </a:p>
        </p:txBody>
      </p:sp>
      <p:sp>
        <p:nvSpPr>
          <p:cNvPr id="13" name="Grade row 2"/>
          <p:cNvSpPr/>
          <p:nvPr/>
        </p:nvSpPr>
        <p:spPr>
          <a:xfrm>
            <a:off x="548640" y="3511296"/>
            <a:ext cx="8046720" cy="731520"/>
          </a:xfrm>
          <a:prstGeom prst="roundRect">
            <a:avLst>
              <a:gd name="adj" fmla="val 10000"/>
            </a:avLst>
          </a:prstGeom>
          <a:solidFill>
            <a:srgbClr val="F0F0F4"/>
          </a:solidFill>
          <a:ln w="12700">
            <a:solidFill>
              <a:srgbClr val="E6E6EC"/>
            </a:solidFill>
            <a:prstDash val="solid"/>
          </a:ln>
        </p:spPr>
        <p:txBody>
          <a:bodyPr/>
          <a:p/>
        </p:txBody>
      </p:sp>
      <p:sp>
        <p:nvSpPr>
          <p:cNvPr id="14" name="Shape 12"/>
          <p:cNvSpPr/>
          <p:nvPr/>
        </p:nvSpPr>
        <p:spPr>
          <a:xfrm>
            <a:off x="731520" y="3648456"/>
            <a:ext cx="457200" cy="457200"/>
          </a:xfrm>
          <a:prstGeom prst="ellipse">
            <a:avLst/>
          </a:prstGeom>
          <a:solidFill>
            <a:srgbClr val="F4C430"/>
          </a:solidFill>
          <a:ln w="12700">
            <a:solidFill>
              <a:srgbClr val="F4C430"/>
            </a:solidFill>
            <a:prstDash val="solid"/>
          </a:ln>
        </p:spPr>
        <p:txBody>
          <a:bodyPr/>
          <a:p/>
        </p:txBody>
      </p:sp>
      <p:sp>
        <p:nvSpPr>
          <p:cNvPr id="15" name="Text 13"/>
          <p:cNvSpPr txBox="1"/>
          <p:nvPr/>
        </p:nvSpPr>
        <p:spPr>
          <a:xfrm>
            <a:off x="731520" y="3648456"/>
            <a:ext cx="457200" cy="457200"/>
          </a:xfrm>
          <a:prstGeom prst="rect">
            <a:avLst/>
          </a:prstGeom>
          <a:noFill/>
          <a:ln/>
        </p:spPr>
        <p:txBody>
          <a:bodyPr wrap="square" lIns="0" tIns="0" rIns="0" bIns="0" rtlCol="0" anchor="ctr"/>
          <a:lstStyle/>
          <a:p>
            <a:pPr algn="ctr" indent="0" marL="0">
              <a:buNone/>
            </a:pPr>
            <a:r>
              <a:rPr lang="en-US" sz="1600" b="1" dirty="0">
                <a:solidFill>
                  <a:srgbClr val="222222"/>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1417320" y="3511296"/>
            <a:ext cx="2377440" cy="73152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Network Error</a:t>
            </a:r>
            <a:endParaRPr lang="en-US" sz="2000" dirty="0"/>
          </a:p>
        </p:txBody>
      </p:sp>
      <p:sp>
        <p:nvSpPr>
          <p:cNvPr id="17" name="Text 15"/>
          <p:cNvSpPr txBox="1"/>
          <p:nvPr/>
        </p:nvSpPr>
        <p:spPr>
          <a:xfrm>
            <a:off x="3840480" y="3511296"/>
            <a:ext cx="4572000" cy="731520"/>
          </a:xfrm>
          <a:prstGeom prst="rect">
            <a:avLst/>
          </a:prstGeom>
          <a:noFill/>
          <a:ln/>
        </p:spPr>
        <p:txBody>
          <a:bodyPr wrap="square" lIns="0" tIns="0" rIns="0" bIns="0" rtlCol="0" anchor="ctr"/>
          <a:lstStyle/>
          <a:p>
            <a:pPr indent="0" marL="0">
              <a:buNone/>
            </a:pPr>
            <a:r>
              <a:rPr lang="en-US" sz="1700" dirty="0">
                <a:solidFill>
                  <a:srgbClr val="333333"/>
                </a:solidFill>
                <a:latin typeface="Times New Roman" pitchFamily="34" charset="0"/>
                <a:ea typeface="Times New Roman" pitchFamily="34" charset="-122"/>
                <a:cs typeface="Times New Roman" pitchFamily="34" charset="-120"/>
              </a:rPr>
              <a:t>Connection failures and unreachable services</a:t>
            </a:r>
            <a:endParaRPr lang="en-US" sz="1700" dirty="0"/>
          </a:p>
        </p:txBody>
      </p:sp>
      <p:sp>
        <p:nvSpPr>
          <p:cNvPr id="18" name="Grade row 3"/>
          <p:cNvSpPr/>
          <p:nvPr/>
        </p:nvSpPr>
        <p:spPr>
          <a:xfrm>
            <a:off x="548640" y="4398264"/>
            <a:ext cx="8046720" cy="731520"/>
          </a:xfrm>
          <a:prstGeom prst="roundRect">
            <a:avLst>
              <a:gd name="adj" fmla="val 10000"/>
            </a:avLst>
          </a:prstGeom>
          <a:solidFill>
            <a:srgbClr val="F0F0F4"/>
          </a:solidFill>
          <a:ln w="12700">
            <a:solidFill>
              <a:srgbClr val="E6E6EC"/>
            </a:solidFill>
            <a:prstDash val="solid"/>
          </a:ln>
        </p:spPr>
        <p:txBody>
          <a:bodyPr/>
          <a:p/>
        </p:txBody>
      </p:sp>
      <p:sp>
        <p:nvSpPr>
          <p:cNvPr id="19" name="Shape 17"/>
          <p:cNvSpPr/>
          <p:nvPr/>
        </p:nvSpPr>
        <p:spPr>
          <a:xfrm>
            <a:off x="731520" y="4535424"/>
            <a:ext cx="457200" cy="457200"/>
          </a:xfrm>
          <a:prstGeom prst="ellipse">
            <a:avLst/>
          </a:prstGeom>
          <a:solidFill>
            <a:srgbClr val="FF7A1F"/>
          </a:solidFill>
          <a:ln w="12700">
            <a:solidFill>
              <a:srgbClr val="FF7A1F"/>
            </a:solidFill>
            <a:prstDash val="solid"/>
          </a:ln>
        </p:spPr>
        <p:txBody>
          <a:bodyPr/>
          <a:p/>
        </p:txBody>
      </p:sp>
      <p:sp>
        <p:nvSpPr>
          <p:cNvPr id="20" name="Text 18"/>
          <p:cNvSpPr txBox="1"/>
          <p:nvPr/>
        </p:nvSpPr>
        <p:spPr>
          <a:xfrm>
            <a:off x="731520" y="45354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txBox="1"/>
          <p:nvPr/>
        </p:nvSpPr>
        <p:spPr>
          <a:xfrm>
            <a:off x="1417320" y="4398264"/>
            <a:ext cx="2377440" cy="73152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System Failure</a:t>
            </a:r>
            <a:endParaRPr lang="en-US" sz="2000" dirty="0"/>
          </a:p>
        </p:txBody>
      </p:sp>
      <p:sp>
        <p:nvSpPr>
          <p:cNvPr id="22" name="Text 20"/>
          <p:cNvSpPr txBox="1"/>
          <p:nvPr/>
        </p:nvSpPr>
        <p:spPr>
          <a:xfrm>
            <a:off x="3840480" y="4398264"/>
            <a:ext cx="4572000" cy="731520"/>
          </a:xfrm>
          <a:prstGeom prst="rect">
            <a:avLst/>
          </a:prstGeom>
          <a:noFill/>
          <a:ln/>
        </p:spPr>
        <p:txBody>
          <a:bodyPr wrap="square" lIns="0" tIns="0" rIns="0" bIns="0" rtlCol="0" anchor="ctr"/>
          <a:lstStyle/>
          <a:p>
            <a:pPr indent="0" marL="0">
              <a:buNone/>
            </a:pPr>
            <a:r>
              <a:rPr lang="en-US" sz="1700" dirty="0">
                <a:solidFill>
                  <a:srgbClr val="333333"/>
                </a:solidFill>
                <a:latin typeface="Times New Roman" pitchFamily="34" charset="0"/>
                <a:ea typeface="Times New Roman" pitchFamily="34" charset="-122"/>
                <a:cs typeface="Times New Roman" pitchFamily="34" charset="-120"/>
              </a:rPr>
              <a:t>Server, disk or database outages</a:t>
            </a:r>
            <a:endParaRPr lang="en-US" sz="1700" dirty="0"/>
          </a:p>
        </p:txBody>
      </p:sp>
      <p:sp>
        <p:nvSpPr>
          <p:cNvPr id="23" name="Grade row 4"/>
          <p:cNvSpPr/>
          <p:nvPr/>
        </p:nvSpPr>
        <p:spPr>
          <a:xfrm>
            <a:off x="548640" y="5285232"/>
            <a:ext cx="8046720" cy="731520"/>
          </a:xfrm>
          <a:prstGeom prst="roundRect">
            <a:avLst>
              <a:gd name="adj" fmla="val 10000"/>
            </a:avLst>
          </a:prstGeom>
          <a:solidFill>
            <a:srgbClr val="F0F0F4"/>
          </a:solidFill>
          <a:ln w="12700">
            <a:solidFill>
              <a:srgbClr val="E6E6EC"/>
            </a:solidFill>
            <a:prstDash val="solid"/>
          </a:ln>
        </p:spPr>
        <p:txBody>
          <a:bodyPr/>
          <a:p/>
        </p:txBody>
      </p:sp>
      <p:sp>
        <p:nvSpPr>
          <p:cNvPr id="24" name="Shape 22"/>
          <p:cNvSpPr/>
          <p:nvPr/>
        </p:nvSpPr>
        <p:spPr>
          <a:xfrm>
            <a:off x="731520" y="5422392"/>
            <a:ext cx="457200" cy="457200"/>
          </a:xfrm>
          <a:prstGeom prst="ellipse">
            <a:avLst/>
          </a:prstGeom>
          <a:solidFill>
            <a:srgbClr val="D64545"/>
          </a:solidFill>
          <a:ln w="12700">
            <a:solidFill>
              <a:srgbClr val="D64545"/>
            </a:solidFill>
            <a:prstDash val="solid"/>
          </a:ln>
        </p:spPr>
        <p:txBody>
          <a:bodyPr/>
          <a:p/>
        </p:txBody>
      </p:sp>
      <p:sp>
        <p:nvSpPr>
          <p:cNvPr id="25" name="Text 23"/>
          <p:cNvSpPr txBox="1"/>
          <p:nvPr/>
        </p:nvSpPr>
        <p:spPr>
          <a:xfrm>
            <a:off x="731520" y="54223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6" name="Text 24"/>
          <p:cNvSpPr txBox="1"/>
          <p:nvPr/>
        </p:nvSpPr>
        <p:spPr>
          <a:xfrm>
            <a:off x="1417320" y="5285232"/>
            <a:ext cx="2377440" cy="731520"/>
          </a:xfrm>
          <a:prstGeom prst="rect">
            <a:avLst/>
          </a:prstGeom>
          <a:noFill/>
          <a:ln/>
        </p:spPr>
        <p:txBody>
          <a:bodyPr wrap="square" lIns="0" tIns="0" rIns="0" bIns="0"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Security Alert</a:t>
            </a:r>
            <a:endParaRPr lang="en-US" sz="2000" dirty="0"/>
          </a:p>
        </p:txBody>
      </p:sp>
      <p:sp>
        <p:nvSpPr>
          <p:cNvPr id="27" name="Text 25"/>
          <p:cNvSpPr txBox="1"/>
          <p:nvPr/>
        </p:nvSpPr>
        <p:spPr>
          <a:xfrm>
            <a:off x="3840480" y="5285232"/>
            <a:ext cx="4572000" cy="731520"/>
          </a:xfrm>
          <a:prstGeom prst="rect">
            <a:avLst/>
          </a:prstGeom>
          <a:noFill/>
          <a:ln/>
        </p:spPr>
        <p:txBody>
          <a:bodyPr wrap="square" lIns="0" tIns="0" rIns="0" bIns="0" rtlCol="0" anchor="ctr"/>
          <a:lstStyle/>
          <a:p>
            <a:pPr indent="0" marL="0">
              <a:buNone/>
            </a:pPr>
            <a:r>
              <a:rPr lang="en-US" sz="1700" dirty="0">
                <a:solidFill>
                  <a:srgbClr val="333333"/>
                </a:solidFill>
                <a:latin typeface="Times New Roman" pitchFamily="34" charset="0"/>
                <a:ea typeface="Times New Roman" pitchFamily="34" charset="-122"/>
                <a:cs typeface="Times New Roman" pitchFamily="34" charset="-120"/>
              </a:rPr>
              <a:t>Unauthorised access and exposed secrets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7"/>
          <p:cNvSpPr/>
          <p:nvPr>
            <p:ph idx="107" type="title" hasCustomPrompt="1"/>
          </p:nvPr>
        </p:nvSpPr>
        <p:spPr>
          <a:xfrm>
            <a:off x="457200" y="713232"/>
            <a:ext cx="8229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FUTURE ENHANCEMENTS</a:t>
            </a:r>
            <a:endParaRPr lang="en-US" sz="4000" dirty="0"/>
          </a:p>
        </p:txBody>
      </p:sp>
      <p:sp>
        <p:nvSpPr>
          <p:cNvPr id="3" name="Text 1"/>
          <p:cNvSpPr txBox="1"/>
          <p:nvPr/>
        </p:nvSpPr>
        <p:spPr>
          <a:xfrm>
            <a:off x="914400" y="1828800"/>
            <a:ext cx="7315200" cy="640080"/>
          </a:xfrm>
          <a:prstGeom prst="rect">
            <a:avLst/>
          </a:prstGeom>
          <a:noFill/>
          <a:ln/>
        </p:spPr>
        <p:txBody>
          <a:bodyPr wrap="square" lIns="0" tIns="0" rIns="0" bIns="0" rtlCol="0" anchor="ctr"/>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Automatic code fixes raised as pull requests.</a:t>
            </a:r>
            <a:endParaRPr lang="en-US" sz="2600" dirty="0"/>
          </a:p>
        </p:txBody>
      </p:sp>
      <p:sp>
        <p:nvSpPr>
          <p:cNvPr id="4" name="Text 2"/>
          <p:cNvSpPr txBox="1"/>
          <p:nvPr/>
        </p:nvSpPr>
        <p:spPr>
          <a:xfrm>
            <a:off x="914400" y="2834640"/>
            <a:ext cx="7315200" cy="640080"/>
          </a:xfrm>
          <a:prstGeom prst="rect">
            <a:avLst/>
          </a:prstGeom>
          <a:noFill/>
          <a:ln/>
        </p:spPr>
        <p:txBody>
          <a:bodyPr wrap="square" lIns="0" tIns="0" rIns="0" bIns="0" rtlCol="0" anchor="ctr"/>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Prediction of failures before they happen.</a:t>
            </a:r>
            <a:endParaRPr lang="en-US" sz="2600" dirty="0"/>
          </a:p>
        </p:txBody>
      </p:sp>
      <p:sp>
        <p:nvSpPr>
          <p:cNvPr id="5" name="Text 3"/>
          <p:cNvSpPr txBox="1"/>
          <p:nvPr/>
        </p:nvSpPr>
        <p:spPr>
          <a:xfrm>
            <a:off x="914400" y="3840480"/>
            <a:ext cx="7315200" cy="640080"/>
          </a:xfrm>
          <a:prstGeom prst="rect">
            <a:avLst/>
          </a:prstGeom>
          <a:noFill/>
          <a:ln/>
        </p:spPr>
        <p:txBody>
          <a:bodyPr wrap="square" lIns="0" tIns="0" rIns="0" bIns="0" rtlCol="0" anchor="ctr"/>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Support for cloud and Kubernetes log sources.</a:t>
            </a:r>
            <a:endParaRPr lang="en-US" sz="2600" dirty="0"/>
          </a:p>
        </p:txBody>
      </p:sp>
      <p:sp>
        <p:nvSpPr>
          <p:cNvPr id="6" name="Text 4"/>
          <p:cNvSpPr txBox="1"/>
          <p:nvPr/>
        </p:nvSpPr>
        <p:spPr>
          <a:xfrm>
            <a:off x="914400" y="4846320"/>
            <a:ext cx="7315200" cy="640080"/>
          </a:xfrm>
          <a:prstGeom prst="rect">
            <a:avLst/>
          </a:prstGeom>
          <a:noFill/>
          <a:ln/>
        </p:spPr>
        <p:txBody>
          <a:bodyPr wrap="square" lIns="0" tIns="0" rIns="0" bIns="0" rtlCol="0" anchor="ctr"/>
          <a:lstStyle/>
          <a:p>
            <a:pPr indent="0" marL="0">
              <a:buNone/>
            </a:pPr>
            <a:r>
              <a:rPr lang="en-US" sz="2600" dirty="0">
                <a:solidFill>
                  <a:srgbClr val="000000"/>
                </a:solidFill>
                <a:latin typeface="Times New Roman" pitchFamily="34" charset="0"/>
                <a:ea typeface="Times New Roman" pitchFamily="34" charset="-122"/>
                <a:cs typeface="Times New Roman" pitchFamily="34" charset="-120"/>
              </a:rPr>
              <a:t>Mobile app for instant incident alerts.</a:t>
            </a:r>
            <a:endParaRPr lang="en-US" sz="26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20040" y="137160"/>
            <a:ext cx="8503920" cy="438912"/>
          </a:xfrm>
          <a:prstGeom prst="rect">
            <a:avLst/>
          </a:prstGeom>
          <a:noFill/>
        </p:spPr>
        <p:txBody>
          <a:bodyPr wrap="none">
            <a:spAutoFit/>
          </a:bodyPr>
          <a:lstStyle/>
          <a:p>
            <a:pPr algn="ctr">
              <a:defRPr sz="2300" b="1">
                <a:solidFill>
                  <a:srgbClr val="193769"/>
                </a:solidFill>
              </a:defRPr>
            </a:pPr>
            <a:r>
              <a:t>Dashboard Overview</a:t>
            </a:r>
          </a:p>
        </p:txBody>
      </p:sp>
      <p:pic>
        <p:nvPicPr>
          <p:cNvPr id="3" name="Screenshot" descr="01_dashboard_overview.png"/>
          <p:cNvPicPr>
            <a:picLocks noChangeAspect="1"/>
          </p:cNvPicPr>
          <p:nvPr/>
        </p:nvPicPr>
        <p:blipFill>
          <a:blip r:embed="rId3"/>
          <a:stretch>
            <a:fillRect/>
          </a:stretch>
        </p:blipFill>
        <p:spPr>
          <a:xfrm>
            <a:off x="320040" y="1280160"/>
            <a:ext cx="8503920" cy="478345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20040" y="137160"/>
            <a:ext cx="8503920" cy="438912"/>
          </a:xfrm>
          <a:prstGeom prst="rect">
            <a:avLst/>
          </a:prstGeom>
          <a:noFill/>
        </p:spPr>
        <p:txBody>
          <a:bodyPr wrap="none">
            <a:spAutoFit/>
          </a:bodyPr>
          <a:lstStyle/>
          <a:p>
            <a:pPr algn="ctr">
              <a:defRPr sz="2300" b="1">
                <a:solidFill>
                  <a:srgbClr val="193769"/>
                </a:solidFill>
              </a:defRPr>
            </a:pPr>
            <a:r>
              <a:t>Log Upload Processor</a:t>
            </a:r>
          </a:p>
        </p:txBody>
      </p:sp>
      <p:pic>
        <p:nvPicPr>
          <p:cNvPr id="3" name="Screenshot" descr="05_log_upload_processor.png"/>
          <p:cNvPicPr>
            <a:picLocks noChangeAspect="1"/>
          </p:cNvPicPr>
          <p:nvPr/>
        </p:nvPicPr>
        <p:blipFill>
          <a:blip r:embed="rId3"/>
          <a:stretch>
            <a:fillRect/>
          </a:stretch>
        </p:blipFill>
        <p:spPr>
          <a:xfrm>
            <a:off x="320040" y="1280160"/>
            <a:ext cx="8503920" cy="478345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20040" y="137160"/>
            <a:ext cx="8503920" cy="438912"/>
          </a:xfrm>
          <a:prstGeom prst="rect">
            <a:avLst/>
          </a:prstGeom>
          <a:noFill/>
        </p:spPr>
        <p:txBody>
          <a:bodyPr wrap="none">
            <a:spAutoFit/>
          </a:bodyPr>
          <a:lstStyle/>
          <a:p>
            <a:pPr algn="ctr">
              <a:defRPr sz="2300" b="1">
                <a:solidFill>
                  <a:srgbClr val="193769"/>
                </a:solidFill>
              </a:defRPr>
            </a:pPr>
            <a:r>
              <a:t>Live Stream Terminal</a:t>
            </a:r>
          </a:p>
        </p:txBody>
      </p:sp>
      <p:pic>
        <p:nvPicPr>
          <p:cNvPr id="3" name="Screenshot" descr="04_live_stream_terminal.png"/>
          <p:cNvPicPr>
            <a:picLocks noChangeAspect="1"/>
          </p:cNvPicPr>
          <p:nvPr/>
        </p:nvPicPr>
        <p:blipFill>
          <a:blip r:embed="rId3"/>
          <a:stretch>
            <a:fillRect/>
          </a:stretch>
        </p:blipFill>
        <p:spPr>
          <a:xfrm>
            <a:off x="320040" y="1280160"/>
            <a:ext cx="8503920" cy="478345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20040" y="137160"/>
            <a:ext cx="8503920" cy="438912"/>
          </a:xfrm>
          <a:prstGeom prst="rect">
            <a:avLst/>
          </a:prstGeom>
          <a:noFill/>
        </p:spPr>
        <p:txBody>
          <a:bodyPr wrap="none">
            <a:spAutoFit/>
          </a:bodyPr>
          <a:lstStyle/>
          <a:p>
            <a:pPr algn="ctr">
              <a:defRPr sz="2300" b="1">
                <a:solidFill>
                  <a:srgbClr val="193769"/>
                </a:solidFill>
              </a:defRPr>
            </a:pPr>
            <a:r>
              <a:t>Issue Registry Management</a:t>
            </a:r>
          </a:p>
        </p:txBody>
      </p:sp>
      <p:pic>
        <p:nvPicPr>
          <p:cNvPr id="3" name="Screenshot" descr="02_issue_registry_management.png"/>
          <p:cNvPicPr>
            <a:picLocks noChangeAspect="1"/>
          </p:cNvPicPr>
          <p:nvPr/>
        </p:nvPicPr>
        <p:blipFill>
          <a:blip r:embed="rId3"/>
          <a:stretch>
            <a:fillRect/>
          </a:stretch>
        </p:blipFill>
        <p:spPr>
          <a:xfrm>
            <a:off x="320040" y="1280160"/>
            <a:ext cx="8503920" cy="478345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20040" y="137160"/>
            <a:ext cx="8503920" cy="438912"/>
          </a:xfrm>
          <a:prstGeom prst="rect">
            <a:avLst/>
          </a:prstGeom>
          <a:noFill/>
        </p:spPr>
        <p:txBody>
          <a:bodyPr wrap="none">
            <a:spAutoFit/>
          </a:bodyPr>
          <a:lstStyle/>
          <a:p>
            <a:pPr algn="ctr">
              <a:defRPr sz="2300" b="1">
                <a:solidFill>
                  <a:srgbClr val="193769"/>
                </a:solidFill>
              </a:defRPr>
            </a:pPr>
            <a:r>
              <a:t>AI Root-Cause Debugger</a:t>
            </a:r>
          </a:p>
        </p:txBody>
      </p:sp>
      <p:pic>
        <p:nvPicPr>
          <p:cNvPr id="3" name="Screenshot" descr="03_ai_root_cause_debugger.png"/>
          <p:cNvPicPr>
            <a:picLocks noChangeAspect="1"/>
          </p:cNvPicPr>
          <p:nvPr/>
        </p:nvPicPr>
        <p:blipFill>
          <a:blip r:embed="rId3"/>
          <a:stretch>
            <a:fillRect/>
          </a:stretch>
        </p:blipFill>
        <p:spPr>
          <a:xfrm>
            <a:off x="320040" y="1280160"/>
            <a:ext cx="8503920" cy="478345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20040" y="137160"/>
            <a:ext cx="8503920" cy="438912"/>
          </a:xfrm>
          <a:prstGeom prst="rect">
            <a:avLst/>
          </a:prstGeom>
          <a:noFill/>
        </p:spPr>
        <p:txBody>
          <a:bodyPr wrap="none">
            <a:spAutoFit/>
          </a:bodyPr>
          <a:lstStyle/>
          <a:p>
            <a:pPr algn="ctr">
              <a:defRPr sz="2300" b="1">
                <a:solidFill>
                  <a:srgbClr val="193769"/>
                </a:solidFill>
              </a:defRPr>
            </a:pPr>
            <a:r>
              <a:t>Enterprise Integrations</a:t>
            </a:r>
          </a:p>
        </p:txBody>
      </p:sp>
      <p:pic>
        <p:nvPicPr>
          <p:cNvPr id="3" name="Screenshot" descr="06_enterprise_integrations.png"/>
          <p:cNvPicPr>
            <a:picLocks noChangeAspect="1"/>
          </p:cNvPicPr>
          <p:nvPr/>
        </p:nvPicPr>
        <p:blipFill>
          <a:blip r:embed="rId3"/>
          <a:stretch>
            <a:fillRect/>
          </a:stretch>
        </p:blipFill>
        <p:spPr>
          <a:xfrm>
            <a:off x="320040" y="1280160"/>
            <a:ext cx="8503920" cy="478345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320040" y="137160"/>
            <a:ext cx="8503920" cy="438912"/>
          </a:xfrm>
          <a:prstGeom prst="rect">
            <a:avLst/>
          </a:prstGeom>
          <a:noFill/>
        </p:spPr>
        <p:txBody>
          <a:bodyPr wrap="none">
            <a:spAutoFit/>
          </a:bodyPr>
          <a:lstStyle/>
          <a:p>
            <a:pPr algn="ctr">
              <a:defRPr sz="2300" b="1">
                <a:solidFill>
                  <a:srgbClr val="193769"/>
                </a:solidFill>
              </a:defRPr>
            </a:pPr>
            <a:r>
              <a:t>System Documentation</a:t>
            </a:r>
          </a:p>
        </p:txBody>
      </p:sp>
      <p:pic>
        <p:nvPicPr>
          <p:cNvPr id="3" name="Screenshot" descr="07_system_documentation.png"/>
          <p:cNvPicPr>
            <a:picLocks noChangeAspect="1"/>
          </p:cNvPicPr>
          <p:nvPr/>
        </p:nvPicPr>
        <p:blipFill>
          <a:blip r:embed="rId3"/>
          <a:stretch>
            <a:fillRect/>
          </a:stretch>
        </p:blipFill>
        <p:spPr>
          <a:xfrm>
            <a:off x="320040" y="1280160"/>
            <a:ext cx="8503920" cy="47834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Dark card"/>
          <p:cNvSpPr/>
          <p:nvPr/>
        </p:nvSpPr>
        <p:spPr>
          <a:xfrm>
            <a:off x="316800" y="1260662"/>
            <a:ext cx="8510400" cy="4668050"/>
          </a:xfrm>
          <a:prstGeom prst="rect">
            <a:avLst/>
          </a:prstGeom>
          <a:solidFill>
            <a:srgbClr val="1B1F24"/>
          </a:solidFill>
          <a:ln w="12700">
            <a:solidFill>
              <a:srgbClr val="1B1F24"/>
            </a:solidFill>
            <a:prstDash val="solid"/>
          </a:ln>
        </p:spPr>
        <p:txBody>
          <a:bodyPr/>
          <a:p/>
        </p:txBody>
      </p:sp>
      <p:sp>
        <p:nvSpPr>
          <p:cNvPr id="3" name="Shape 1"/>
          <p:cNvSpPr/>
          <p:nvPr/>
        </p:nvSpPr>
        <p:spPr>
          <a:xfrm>
            <a:off x="316800" y="1260662"/>
            <a:ext cx="8510400" cy="79242"/>
          </a:xfrm>
          <a:prstGeom prst="rect">
            <a:avLst/>
          </a:prstGeom>
          <a:solidFill>
            <a:srgbClr val="FF7A1F"/>
          </a:solidFill>
          <a:ln w="12700">
            <a:solidFill>
              <a:srgbClr val="FF7A1F"/>
            </a:solidFill>
            <a:prstDash val="solid"/>
          </a:ln>
        </p:spPr>
        <p:txBody>
          <a:bodyPr/>
          <a:p/>
        </p:txBody>
      </p:sp>
      <p:sp>
        <p:nvSpPr>
          <p:cNvPr id="4" name="Lane dash"/>
          <p:cNvSpPr/>
          <p:nvPr/>
        </p:nvSpPr>
        <p:spPr>
          <a:xfrm>
            <a:off x="849600" y="1851372"/>
            <a:ext cx="174777" cy="36019"/>
          </a:xfrm>
          <a:prstGeom prst="rect">
            <a:avLst/>
          </a:prstGeom>
          <a:solidFill>
            <a:srgbClr val="F4C430"/>
          </a:solidFill>
          <a:ln w="12700">
            <a:solidFill>
              <a:srgbClr val="F4C430"/>
            </a:solidFill>
            <a:prstDash val="solid"/>
          </a:ln>
        </p:spPr>
        <p:txBody>
          <a:bodyPr/>
          <a:p/>
        </p:txBody>
      </p:sp>
      <p:sp>
        <p:nvSpPr>
          <p:cNvPr id="5" name="Lane dash"/>
          <p:cNvSpPr/>
          <p:nvPr/>
        </p:nvSpPr>
        <p:spPr>
          <a:xfrm>
            <a:off x="1185709" y="1851372"/>
            <a:ext cx="174777" cy="36019"/>
          </a:xfrm>
          <a:prstGeom prst="rect">
            <a:avLst/>
          </a:prstGeom>
          <a:solidFill>
            <a:srgbClr val="F4C430"/>
          </a:solidFill>
          <a:ln w="12700">
            <a:solidFill>
              <a:srgbClr val="F4C430"/>
            </a:solidFill>
            <a:prstDash val="solid"/>
          </a:ln>
        </p:spPr>
        <p:txBody>
          <a:bodyPr/>
          <a:p/>
        </p:txBody>
      </p:sp>
      <p:sp>
        <p:nvSpPr>
          <p:cNvPr id="6" name="Lane dash"/>
          <p:cNvSpPr/>
          <p:nvPr/>
        </p:nvSpPr>
        <p:spPr>
          <a:xfrm>
            <a:off x="1521818" y="1851372"/>
            <a:ext cx="174777" cy="36019"/>
          </a:xfrm>
          <a:prstGeom prst="rect">
            <a:avLst/>
          </a:prstGeom>
          <a:solidFill>
            <a:srgbClr val="F4C430"/>
          </a:solidFill>
          <a:ln w="12700">
            <a:solidFill>
              <a:srgbClr val="F4C430"/>
            </a:solidFill>
            <a:prstDash val="solid"/>
          </a:ln>
        </p:spPr>
        <p:txBody>
          <a:bodyPr/>
          <a:p/>
        </p:txBody>
      </p:sp>
      <p:sp>
        <p:nvSpPr>
          <p:cNvPr id="7" name="Lane dash"/>
          <p:cNvSpPr/>
          <p:nvPr/>
        </p:nvSpPr>
        <p:spPr>
          <a:xfrm>
            <a:off x="1857927" y="1851372"/>
            <a:ext cx="174777" cy="36019"/>
          </a:xfrm>
          <a:prstGeom prst="rect">
            <a:avLst/>
          </a:prstGeom>
          <a:solidFill>
            <a:srgbClr val="F4C430"/>
          </a:solidFill>
          <a:ln w="12700">
            <a:solidFill>
              <a:srgbClr val="F4C430"/>
            </a:solidFill>
            <a:prstDash val="solid"/>
          </a:ln>
        </p:spPr>
        <p:txBody>
          <a:bodyPr/>
          <a:p/>
        </p:txBody>
      </p:sp>
      <p:sp>
        <p:nvSpPr>
          <p:cNvPr id="8" name="Lane dash"/>
          <p:cNvSpPr/>
          <p:nvPr/>
        </p:nvSpPr>
        <p:spPr>
          <a:xfrm>
            <a:off x="2194036" y="1851372"/>
            <a:ext cx="174777" cy="36019"/>
          </a:xfrm>
          <a:prstGeom prst="rect">
            <a:avLst/>
          </a:prstGeom>
          <a:solidFill>
            <a:srgbClr val="F4C430"/>
          </a:solidFill>
          <a:ln w="12700">
            <a:solidFill>
              <a:srgbClr val="F4C430"/>
            </a:solidFill>
            <a:prstDash val="solid"/>
          </a:ln>
        </p:spPr>
        <p:txBody>
          <a:bodyPr/>
          <a:p/>
        </p:txBody>
      </p:sp>
      <p:sp>
        <p:nvSpPr>
          <p:cNvPr id="9" name="Lane dash"/>
          <p:cNvSpPr/>
          <p:nvPr/>
        </p:nvSpPr>
        <p:spPr>
          <a:xfrm>
            <a:off x="2530145" y="1851372"/>
            <a:ext cx="174777" cy="36019"/>
          </a:xfrm>
          <a:prstGeom prst="rect">
            <a:avLst/>
          </a:prstGeom>
          <a:solidFill>
            <a:srgbClr val="F4C430"/>
          </a:solidFill>
          <a:ln w="12700">
            <a:solidFill>
              <a:srgbClr val="F4C430"/>
            </a:solidFill>
            <a:prstDash val="solid"/>
          </a:ln>
        </p:spPr>
        <p:txBody>
          <a:bodyPr/>
          <a:p/>
        </p:txBody>
      </p:sp>
      <p:sp>
        <p:nvSpPr>
          <p:cNvPr id="10" name="Lane dash"/>
          <p:cNvSpPr/>
          <p:nvPr/>
        </p:nvSpPr>
        <p:spPr>
          <a:xfrm>
            <a:off x="2866255" y="1851372"/>
            <a:ext cx="174777" cy="36019"/>
          </a:xfrm>
          <a:prstGeom prst="rect">
            <a:avLst/>
          </a:prstGeom>
          <a:solidFill>
            <a:srgbClr val="F4C430"/>
          </a:solidFill>
          <a:ln w="12700">
            <a:solidFill>
              <a:srgbClr val="F4C430"/>
            </a:solidFill>
            <a:prstDash val="solid"/>
          </a:ln>
        </p:spPr>
        <p:txBody>
          <a:bodyPr/>
          <a:p/>
        </p:txBody>
      </p:sp>
      <p:sp>
        <p:nvSpPr>
          <p:cNvPr id="11" name="Lane dash"/>
          <p:cNvSpPr/>
          <p:nvPr/>
        </p:nvSpPr>
        <p:spPr>
          <a:xfrm>
            <a:off x="3202364" y="1851372"/>
            <a:ext cx="174777" cy="36019"/>
          </a:xfrm>
          <a:prstGeom prst="rect">
            <a:avLst/>
          </a:prstGeom>
          <a:solidFill>
            <a:srgbClr val="F4C430"/>
          </a:solidFill>
          <a:ln w="12700">
            <a:solidFill>
              <a:srgbClr val="F4C430"/>
            </a:solidFill>
            <a:prstDash val="solid"/>
          </a:ln>
        </p:spPr>
        <p:txBody>
          <a:bodyPr/>
          <a:p/>
        </p:txBody>
      </p:sp>
      <p:sp>
        <p:nvSpPr>
          <p:cNvPr id="12" name="Lane dash"/>
          <p:cNvSpPr/>
          <p:nvPr/>
        </p:nvSpPr>
        <p:spPr>
          <a:xfrm>
            <a:off x="3538473" y="1851372"/>
            <a:ext cx="174777" cy="36019"/>
          </a:xfrm>
          <a:prstGeom prst="rect">
            <a:avLst/>
          </a:prstGeom>
          <a:solidFill>
            <a:srgbClr val="F4C430"/>
          </a:solidFill>
          <a:ln w="12700">
            <a:solidFill>
              <a:srgbClr val="F4C430"/>
            </a:solidFill>
            <a:prstDash val="solid"/>
          </a:ln>
        </p:spPr>
        <p:txBody>
          <a:bodyPr/>
          <a:p/>
        </p:txBody>
      </p:sp>
      <p:sp>
        <p:nvSpPr>
          <p:cNvPr id="13" name="Lane dash"/>
          <p:cNvSpPr/>
          <p:nvPr/>
        </p:nvSpPr>
        <p:spPr>
          <a:xfrm>
            <a:off x="3874582" y="1851372"/>
            <a:ext cx="174777" cy="36019"/>
          </a:xfrm>
          <a:prstGeom prst="rect">
            <a:avLst/>
          </a:prstGeom>
          <a:solidFill>
            <a:srgbClr val="F4C430"/>
          </a:solidFill>
          <a:ln w="12700">
            <a:solidFill>
              <a:srgbClr val="F4C430"/>
            </a:solidFill>
            <a:prstDash val="solid"/>
          </a:ln>
        </p:spPr>
        <p:txBody>
          <a:bodyPr/>
          <a:p/>
        </p:txBody>
      </p:sp>
      <p:sp>
        <p:nvSpPr>
          <p:cNvPr id="14" name="Lane dash"/>
          <p:cNvSpPr/>
          <p:nvPr/>
        </p:nvSpPr>
        <p:spPr>
          <a:xfrm>
            <a:off x="4210691" y="1851372"/>
            <a:ext cx="174777" cy="36019"/>
          </a:xfrm>
          <a:prstGeom prst="rect">
            <a:avLst/>
          </a:prstGeom>
          <a:solidFill>
            <a:srgbClr val="F4C430"/>
          </a:solidFill>
          <a:ln w="12700">
            <a:solidFill>
              <a:srgbClr val="F4C430"/>
            </a:solidFill>
            <a:prstDash val="solid"/>
          </a:ln>
        </p:spPr>
        <p:txBody>
          <a:bodyPr/>
          <a:p/>
        </p:txBody>
      </p:sp>
      <p:sp>
        <p:nvSpPr>
          <p:cNvPr id="15" name="Lane dash"/>
          <p:cNvSpPr/>
          <p:nvPr/>
        </p:nvSpPr>
        <p:spPr>
          <a:xfrm>
            <a:off x="4546800" y="1851372"/>
            <a:ext cx="174777" cy="36019"/>
          </a:xfrm>
          <a:prstGeom prst="rect">
            <a:avLst/>
          </a:prstGeom>
          <a:solidFill>
            <a:srgbClr val="F4C430"/>
          </a:solidFill>
          <a:ln w="12700">
            <a:solidFill>
              <a:srgbClr val="F4C430"/>
            </a:solidFill>
            <a:prstDash val="solid"/>
          </a:ln>
        </p:spPr>
        <p:txBody>
          <a:bodyPr/>
          <a:p/>
        </p:txBody>
      </p:sp>
      <p:sp>
        <p:nvSpPr>
          <p:cNvPr id="16" name="Lane dash"/>
          <p:cNvSpPr/>
          <p:nvPr/>
        </p:nvSpPr>
        <p:spPr>
          <a:xfrm>
            <a:off x="4882909" y="1851372"/>
            <a:ext cx="174777" cy="36019"/>
          </a:xfrm>
          <a:prstGeom prst="rect">
            <a:avLst/>
          </a:prstGeom>
          <a:solidFill>
            <a:srgbClr val="F4C430"/>
          </a:solidFill>
          <a:ln w="12700">
            <a:solidFill>
              <a:srgbClr val="F4C430"/>
            </a:solidFill>
            <a:prstDash val="solid"/>
          </a:ln>
        </p:spPr>
        <p:txBody>
          <a:bodyPr/>
          <a:p/>
        </p:txBody>
      </p:sp>
      <p:sp>
        <p:nvSpPr>
          <p:cNvPr id="17" name="Lane dash"/>
          <p:cNvSpPr/>
          <p:nvPr/>
        </p:nvSpPr>
        <p:spPr>
          <a:xfrm>
            <a:off x="5219018" y="1851372"/>
            <a:ext cx="174777" cy="36019"/>
          </a:xfrm>
          <a:prstGeom prst="rect">
            <a:avLst/>
          </a:prstGeom>
          <a:solidFill>
            <a:srgbClr val="F4C430"/>
          </a:solidFill>
          <a:ln w="12700">
            <a:solidFill>
              <a:srgbClr val="F4C430"/>
            </a:solidFill>
            <a:prstDash val="solid"/>
          </a:ln>
        </p:spPr>
        <p:txBody>
          <a:bodyPr/>
          <a:p/>
        </p:txBody>
      </p:sp>
      <p:sp>
        <p:nvSpPr>
          <p:cNvPr id="18" name="Lane dash"/>
          <p:cNvSpPr/>
          <p:nvPr/>
        </p:nvSpPr>
        <p:spPr>
          <a:xfrm>
            <a:off x="5555127" y="1851372"/>
            <a:ext cx="174777" cy="36019"/>
          </a:xfrm>
          <a:prstGeom prst="rect">
            <a:avLst/>
          </a:prstGeom>
          <a:solidFill>
            <a:srgbClr val="F4C430"/>
          </a:solidFill>
          <a:ln w="12700">
            <a:solidFill>
              <a:srgbClr val="F4C430"/>
            </a:solidFill>
            <a:prstDash val="solid"/>
          </a:ln>
        </p:spPr>
        <p:txBody>
          <a:bodyPr/>
          <a:p/>
        </p:txBody>
      </p:sp>
      <p:sp>
        <p:nvSpPr>
          <p:cNvPr id="19" name="Lane dash"/>
          <p:cNvSpPr/>
          <p:nvPr/>
        </p:nvSpPr>
        <p:spPr>
          <a:xfrm>
            <a:off x="5891236" y="1851372"/>
            <a:ext cx="174777" cy="36019"/>
          </a:xfrm>
          <a:prstGeom prst="rect">
            <a:avLst/>
          </a:prstGeom>
          <a:solidFill>
            <a:srgbClr val="F4C430"/>
          </a:solidFill>
          <a:ln w="12700">
            <a:solidFill>
              <a:srgbClr val="F4C430"/>
            </a:solidFill>
            <a:prstDash val="solid"/>
          </a:ln>
        </p:spPr>
        <p:txBody>
          <a:bodyPr/>
          <a:p/>
        </p:txBody>
      </p:sp>
      <p:sp>
        <p:nvSpPr>
          <p:cNvPr id="20" name="Lane dash"/>
          <p:cNvSpPr/>
          <p:nvPr/>
        </p:nvSpPr>
        <p:spPr>
          <a:xfrm>
            <a:off x="6227345" y="1851372"/>
            <a:ext cx="174777" cy="36019"/>
          </a:xfrm>
          <a:prstGeom prst="rect">
            <a:avLst/>
          </a:prstGeom>
          <a:solidFill>
            <a:srgbClr val="F4C430"/>
          </a:solidFill>
          <a:ln w="12700">
            <a:solidFill>
              <a:srgbClr val="F4C430"/>
            </a:solidFill>
            <a:prstDash val="solid"/>
          </a:ln>
        </p:spPr>
        <p:txBody>
          <a:bodyPr/>
          <a:p/>
        </p:txBody>
      </p:sp>
      <p:sp>
        <p:nvSpPr>
          <p:cNvPr id="21" name="Lane dash"/>
          <p:cNvSpPr/>
          <p:nvPr/>
        </p:nvSpPr>
        <p:spPr>
          <a:xfrm>
            <a:off x="6563455" y="1851372"/>
            <a:ext cx="174777" cy="36019"/>
          </a:xfrm>
          <a:prstGeom prst="rect">
            <a:avLst/>
          </a:prstGeom>
          <a:solidFill>
            <a:srgbClr val="F4C430"/>
          </a:solidFill>
          <a:ln w="12700">
            <a:solidFill>
              <a:srgbClr val="F4C430"/>
            </a:solidFill>
            <a:prstDash val="solid"/>
          </a:ln>
        </p:spPr>
        <p:txBody>
          <a:bodyPr/>
          <a:p/>
        </p:txBody>
      </p:sp>
      <p:sp>
        <p:nvSpPr>
          <p:cNvPr id="22" name="Lane dash"/>
          <p:cNvSpPr/>
          <p:nvPr/>
        </p:nvSpPr>
        <p:spPr>
          <a:xfrm>
            <a:off x="6899564" y="1851372"/>
            <a:ext cx="174777" cy="36019"/>
          </a:xfrm>
          <a:prstGeom prst="rect">
            <a:avLst/>
          </a:prstGeom>
          <a:solidFill>
            <a:srgbClr val="F4C430"/>
          </a:solidFill>
          <a:ln w="12700">
            <a:solidFill>
              <a:srgbClr val="F4C430"/>
            </a:solidFill>
            <a:prstDash val="solid"/>
          </a:ln>
        </p:spPr>
        <p:txBody>
          <a:bodyPr/>
          <a:p/>
        </p:txBody>
      </p:sp>
      <p:sp>
        <p:nvSpPr>
          <p:cNvPr id="23" name="Lane dash"/>
          <p:cNvSpPr/>
          <p:nvPr/>
        </p:nvSpPr>
        <p:spPr>
          <a:xfrm>
            <a:off x="7235673" y="1851372"/>
            <a:ext cx="174777" cy="36019"/>
          </a:xfrm>
          <a:prstGeom prst="rect">
            <a:avLst/>
          </a:prstGeom>
          <a:solidFill>
            <a:srgbClr val="F4C430"/>
          </a:solidFill>
          <a:ln w="12700">
            <a:solidFill>
              <a:srgbClr val="F4C430"/>
            </a:solidFill>
            <a:prstDash val="solid"/>
          </a:ln>
        </p:spPr>
        <p:txBody>
          <a:bodyPr/>
          <a:p/>
        </p:txBody>
      </p:sp>
      <p:sp>
        <p:nvSpPr>
          <p:cNvPr id="24" name="Lane dash"/>
          <p:cNvSpPr/>
          <p:nvPr/>
        </p:nvSpPr>
        <p:spPr>
          <a:xfrm>
            <a:off x="7571782" y="1851372"/>
            <a:ext cx="174777" cy="36019"/>
          </a:xfrm>
          <a:prstGeom prst="rect">
            <a:avLst/>
          </a:prstGeom>
          <a:solidFill>
            <a:srgbClr val="F4C430"/>
          </a:solidFill>
          <a:ln w="12700">
            <a:solidFill>
              <a:srgbClr val="F4C430"/>
            </a:solidFill>
            <a:prstDash val="solid"/>
          </a:ln>
        </p:spPr>
        <p:txBody>
          <a:bodyPr/>
          <a:p/>
        </p:txBody>
      </p:sp>
      <p:sp>
        <p:nvSpPr>
          <p:cNvPr id="25" name="Lane dash"/>
          <p:cNvSpPr/>
          <p:nvPr/>
        </p:nvSpPr>
        <p:spPr>
          <a:xfrm>
            <a:off x="7907891" y="1851372"/>
            <a:ext cx="174777" cy="36019"/>
          </a:xfrm>
          <a:prstGeom prst="rect">
            <a:avLst/>
          </a:prstGeom>
          <a:solidFill>
            <a:srgbClr val="F4C430"/>
          </a:solidFill>
          <a:ln w="12700">
            <a:solidFill>
              <a:srgbClr val="F4C430"/>
            </a:solidFill>
            <a:prstDash val="solid"/>
          </a:ln>
        </p:spPr>
        <p:txBody>
          <a:bodyPr/>
          <a:p/>
        </p:txBody>
      </p:sp>
      <p:sp>
        <p:nvSpPr>
          <p:cNvPr id="26" name="Text 24"/>
          <p:cNvSpPr txBox="1"/>
          <p:nvPr/>
        </p:nvSpPr>
        <p:spPr>
          <a:xfrm>
            <a:off x="993600" y="3061607"/>
            <a:ext cx="6480000" cy="576303"/>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27" name="Shape 25"/>
          <p:cNvSpPr/>
          <p:nvPr/>
        </p:nvSpPr>
        <p:spPr>
          <a:xfrm>
            <a:off x="1015200" y="3998099"/>
            <a:ext cx="1490400" cy="0"/>
          </a:xfrm>
          <a:prstGeom prst="line">
            <a:avLst/>
          </a:prstGeom>
          <a:noFill/>
          <a:ln w="19050">
            <a:solidFill>
              <a:srgbClr val="F4C430"/>
            </a:solidFill>
            <a:prstDash val="solid"/>
          </a:ln>
        </p:spPr>
        <p:txBody>
          <a:bodyPr/>
          <a:p/>
        </p:txBody>
      </p:sp>
      <p:sp>
        <p:nvSpPr>
          <p:cNvPr id="28" name="Text 26"/>
          <p:cNvSpPr txBox="1"/>
          <p:nvPr/>
        </p:nvSpPr>
        <p:spPr>
          <a:xfrm>
            <a:off x="1015200" y="4142174"/>
            <a:ext cx="6480000" cy="244929"/>
          </a:xfrm>
          <a:prstGeom prst="rect">
            <a:avLst/>
          </a:prstGeom>
          <a:noFill/>
          <a:ln/>
        </p:spPr>
        <p:txBody>
          <a:bodyPr wrap="square" lIns="0" tIns="0" rIns="0" bIns="0" rtlCol="0" anchor="ctr"/>
          <a:lstStyle/>
          <a:p>
            <a:pPr indent="0" marL="0">
              <a:buNone/>
            </a:pPr>
            <a:r>
              <a:rPr lang="en-US" sz="1200" dirty="0">
                <a:solidFill>
                  <a:srgbClr val="9AA0AC"/>
                </a:solidFill>
                <a:latin typeface="Arial" pitchFamily="34" charset="0"/>
                <a:ea typeface="Arial" pitchFamily="34" charset="-122"/>
                <a:cs typeface="Arial" pitchFamily="34" charset="-120"/>
              </a:rPr>
              <a:t>NLP Log Processor &amp; Bug Reporter  |  III B.Sc. Computer Science</a:t>
            </a:r>
            <a:endParaRPr lang="en-US" sz="1200" dirty="0"/>
          </a:p>
        </p:txBody>
      </p:sp>
    </p:spTree>
  </p:cSld>
  <p:clrMapOvr>
    <a:masterClrMapping/>
  </p:clrMapOvr>
</p:sld>
</file>

<file path=ppt/theme/theme1.xml><?xml version="1.0" encoding="utf-8"?>
<a:theme xmlns:a="http://schemas.openxmlformats.org/drawingml/2006/main" name="DR Detection Campus">
  <a:themeElements>
    <a:clrScheme name="DR Detection Campus">
      <a:dk1>
        <a:srgbClr val="000000"/>
      </a:dk1>
      <a:lt1>
        <a:srgbClr val="FFFFFF"/>
      </a:lt1>
      <a:dk2>
        <a:srgbClr val="44546A"/>
      </a:dk2>
      <a:lt2>
        <a:srgbClr val="F5BD97"/>
      </a:lt2>
      <a:accent1>
        <a:srgbClr val="ED7D31"/>
      </a:accent1>
      <a:accent2>
        <a:srgbClr val="44546A"/>
      </a:accent2>
      <a:accent3>
        <a:srgbClr val="F5BD97"/>
      </a:accent3>
      <a:accent4>
        <a:srgbClr val="F4C430"/>
      </a:accent4>
      <a:accent5>
        <a:srgbClr val="2EAF6A"/>
      </a:accent5>
      <a:accent6>
        <a:srgbClr val="1B1F24"/>
      </a:accent6>
      <a:hlink>
        <a:srgbClr val="0563C1"/>
      </a:hlink>
      <a:folHlink>
        <a:srgbClr val="954F72"/>
      </a:folHlink>
    </a:clrScheme>
    <a:fontScheme name="DR Detection Campus">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Diabetic Retinopathy Detection</dc:title>
  <dc:subject>PptxGenJS Presentation</dc:subject>
  <dc:creator>S.Saravanan Kumar, S.Saran Raj</dc:creator>
  <cp:lastModifiedBy>S.Saravanan Kumar, S.Saran Raj</cp:lastModifiedBy>
  <cp:revision>1</cp:revision>
  <dcterms:created xsi:type="dcterms:W3CDTF">2026-10-20T10:22:05Z</dcterms:created>
  <dcterms:modified xsi:type="dcterms:W3CDTF">2026-10-20T10:22:05Z</dcterms:modified>
</cp:coreProperties>
</file>